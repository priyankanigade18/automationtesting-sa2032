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theme/themeOverride1.xml" ContentType="application/vnd.openxmlformats-officedocument.themeOverride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03" r:id="rId4"/>
    <p:sldId id="258" r:id="rId5"/>
    <p:sldId id="259" r:id="rId6"/>
    <p:sldId id="315" r:id="rId7"/>
    <p:sldId id="260" r:id="rId8"/>
    <p:sldId id="316" r:id="rId9"/>
    <p:sldId id="261" r:id="rId10"/>
    <p:sldId id="291" r:id="rId11"/>
    <p:sldId id="290" r:id="rId12"/>
    <p:sldId id="262" r:id="rId13"/>
    <p:sldId id="302" r:id="rId14"/>
    <p:sldId id="288" r:id="rId15"/>
    <p:sldId id="289" r:id="rId16"/>
    <p:sldId id="293" r:id="rId17"/>
    <p:sldId id="292" r:id="rId18"/>
    <p:sldId id="300" r:id="rId19"/>
    <p:sldId id="264" r:id="rId20"/>
    <p:sldId id="294" r:id="rId21"/>
    <p:sldId id="317" r:id="rId22"/>
    <p:sldId id="296" r:id="rId23"/>
    <p:sldId id="297" r:id="rId24"/>
    <p:sldId id="298" r:id="rId25"/>
    <p:sldId id="295" r:id="rId26"/>
    <p:sldId id="299" r:id="rId27"/>
    <p:sldId id="265" r:id="rId28"/>
    <p:sldId id="266" r:id="rId29"/>
    <p:sldId id="267" r:id="rId30"/>
    <p:sldId id="268" r:id="rId31"/>
    <p:sldId id="269" r:id="rId32"/>
    <p:sldId id="274" r:id="rId33"/>
    <p:sldId id="309" r:id="rId34"/>
    <p:sldId id="310" r:id="rId35"/>
    <p:sldId id="311" r:id="rId36"/>
    <p:sldId id="312" r:id="rId37"/>
    <p:sldId id="313" r:id="rId38"/>
    <p:sldId id="270" r:id="rId39"/>
    <p:sldId id="271" r:id="rId40"/>
    <p:sldId id="301" r:id="rId41"/>
    <p:sldId id="272" r:id="rId42"/>
    <p:sldId id="284" r:id="rId43"/>
    <p:sldId id="285" r:id="rId44"/>
    <p:sldId id="286" r:id="rId45"/>
    <p:sldId id="275" r:id="rId46"/>
    <p:sldId id="276" r:id="rId47"/>
    <p:sldId id="277" r:id="rId48"/>
    <p:sldId id="278" r:id="rId49"/>
    <p:sldId id="304" r:id="rId50"/>
    <p:sldId id="279" r:id="rId51"/>
    <p:sldId id="280" r:id="rId52"/>
    <p:sldId id="306" r:id="rId53"/>
    <p:sldId id="307" r:id="rId54"/>
    <p:sldId id="282" r:id="rId55"/>
    <p:sldId id="283" r:id="rId56"/>
    <p:sldId id="308" r:id="rId57"/>
    <p:sldId id="314" r:id="rId5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4T14:48:59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3650,'0'0'2142,"0"1"-2183,-1 0-1,1 0 1,0 0 0,0 0 0,0 0-1,0 0 1,0 0 0,0-1-1,0 1 1,0 0 0,0 0-1,0 0 1,0 0 0,1 0 0,-1 0-1,0 0 1,1-1 0,-1 1-1,1 0 1,-1 0 0,1 0 0,0 0-1,17-1-1460,3 0-1518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4T14:49:01.8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24 5202,'0'0'3871,"-6"-4"-3348,-6-6-334,12 9-187,0 1 1,0 0-1,0 0 1,0 0-1,0 0 1,0-1-1,0 1 1,0 0-1,0 0 1,0 0-1,0-1 1,0 1-1,0 0 1,0 0-1,0 0 1,0 0-1,0-1 1,0 1-1,0 0 1,0 0-1,0 0 1,0 0-1,1-1 1,-1 1 0,0 0-1,0 0 1,0 0-1,0 0 1,0 0-1,0 0 1,1-1-1,-1 1 1,0 0-1,0 0 1,0 0-1,0 0 1,0 0-1,1 0 1,-1 0-1,0 0 1,0 0-1,0 0 1,1 0-1,45-3 169,1910 3 1080,-1249 27-3539,-343-8-3206,-268-18 2871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4T14:49:02.3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168 281 7027,'0'0'432,"-28"4"206,-85 12 90,90-11-372,19-3-228,20 1-112,-12-3 31,266 7 673,-162-9-477,486-19 411,4-26-545,-1 0-55,-151 21-37,788-70-386,-1213 94 356,-3 0 7,-1 0-1,0-1 1,29-9 0,-45 12 21,-1 0 0,1-1-1,0 1 1,0 0 0,0 0 0,-1-1-1,1 1 1,0-1 0,0 1-1,-1-1 1,1 1 0,0-1-1,-1 1 1,1-1 0,0 1 0,-1-1-1,1 0 1,-1 1 0,1-1-1,-1 0 1,1 0 0,-1 1 0,0-1-1,1 0 1,-1 0 0,0 0-1,0 1 1,0-1 0,0 0 0,1 0-1,-1 0 1,0 0 0,0 0-1,0 1 1,-1-1 0,1 0 0,0 0-1,-1-1 1,1 0 13,-1 1 1,0-1-1,0 1 1,0-1-1,0 1 1,0-1-1,0 1 1,-1 0 0,1 0-1,0-1 1,-1 1-1,1 0 1,-1 0-1,1 1 1,-3-2-1,-33-8 81,19 10-2611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4T14:49:03.0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0 180 3762,'0'0'4175,"21"6"-3540,9 2-300,46 8 0,-4-10 79,122-6 1,-134-2-271,526-31 490,-145 6-505,1002-20 132,-75 3-1725,-1286 41 1117,188-17-992,-235 12 632,-32 4-422,-10 0 727,-16-1 114,-121-8-111,-200 7 0,215 7-578,-45 1-327,-14 5 117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4T14:49:03.5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1 340 7171,'0'0'395,"59"2"-11,497-15 1014,-292-11-928,1298-101 656,-369 70-978,-85 5-134,-736 20 18,-360 29 90,26-6-334,-37 7 267,0 0 0,0 0 0,0-1-1,-1 1 1,1 0 0,0-1 0,0 1 0,-1-1-1,1 1 1,0-1 0,-1 0 0,1 1-1,0-1 1,-1 1 0,1-1 0,-1 0 0,1 0-1,-1 1 1,1-1 0,-1 0 0,0 0 0,1 0-1,-1 1 1,0-1 0,0 0 0,0 0 0,0 0-1,1 0 1,-1 0 0,0 1 0,0-1 0,-1 0-1,1 0 1,0-1 0,-1 1-2,1 0 0,-1 0 0,1 1 0,-1-1 0,0 0 1,1 1-1,-1-1 0,0 0 0,0 1 0,1-1 0,-1 1 0,0-1 0,0 1 0,0 0 1,0-1-1,0 1 0,1 0 0,-1-1 0,0 1 0,0 0 0,0 0 0,0 0 0,-1 0 1,-30-2 483,22 2-879,-11 12-6576,8-12-152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4T15:46:56.0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1 795 5138,'0'0'1913,"32"-13"-734,-10 5-973,49-19 621,97-52 0,198-130 1100,302-158-823,-632 349-1107,-10 4-17,-1 2 1,2 0-1,0 2 1,0 1-1,39-7 1,-66 16-3,0 0-1,0 0 1,1 0 0,-1 0 0,0 0 0,0 0 0,0 0 0,0 0 0,0 0 0,1 0-1,-1 0 1,0 0 0,0 0 0,0 0 0,0 0 0,0 0 0,0 0 0,1 0 0,-1 1-1,0-1 1,0 0 0,0 0 0,0 0 0,0 0 0,0 0 0,0 0 0,0 0 0,0 1-1,0-1 1,1 0 0,-1 0 0,0 0 0,0 0 0,0 0 0,0 1 0,0-1 0,0 0 0,0 0-1,0 0 1,0 0 0,0 0 0,0 1 0,0-1 0,0 0 0,-1 0 0,1 0 0,0 0-1,0 0 1,0 1 0,0-1 0,0 0 0,0 0 0,0 0 0,0 0 0,0 0 0,-1 0-1,-5 12-584,-20 19-416,-1-2-1,-2 0 1,-52 39-1,43-37-191,-68 55-1760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4T15:46:56.3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1307 7619,'0'0'593,"198"-83"207,-72 14 0,20-11-239,19-12-129,7-7 64,0-5-208,-3 0-176,-7 6-80,-10 6 16,-16 5-48,-21 7-48,-19 3-736,-23-1-641,-20-2-1168,-20-4-1777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4T15:46:56.5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212 17 3906,'0'0'3425,"8"1"-2224,25 1-854,0-2 1,1-1-1,39-7 1,55-1-95,-107 8-210,31 1 20,-51 0-57,1 0 1,0 0-1,-1 1 0,0-1 0,1 0 0,-1 1 1,1-1-1,-1 1 0,1 0 0,-1-1 1,0 1-1,0 0 0,1 0 0,-1 0 1,0 0-1,0 0 0,0 0 0,0 0 0,0 0 1,0 0-1,0 1 0,0-1 0,-1 0 1,1 0-1,0 1 0,-1-1 0,2 3 0,-1 4 76,0-1-1,-1 1 0,0 0 0,0 0 0,0 0 0,-1-1 0,0 1 0,-1 0 0,1-1 0,-1 1 0,-1-1 0,0 1 0,-6 11 0,-5 6 199,-1-2-1,-30 35 0,23-30-133,-50 66 256,-239 332-289,290-391-754,1 0 0,2 2 0,-25 71 0,17-14-2120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569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275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8045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383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020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954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092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748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4297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5397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8496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5838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15718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9534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081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37224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869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7073181-F35D-4DB2-961E-423ECA3271F8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338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.xml"/><Relationship Id="rId5" Type="http://schemas.openxmlformats.org/officeDocument/2006/relationships/image" Target="../media/image11.png"/><Relationship Id="rId4" Type="http://schemas.openxmlformats.org/officeDocument/2006/relationships/customXml" Target="../ink/ink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615F0-ACC3-26EB-82F6-2C661C9B7A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JavaScript Basics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E1736B-9991-3BB0-13A5-C1B643BEB0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Priyanka </a:t>
            </a:r>
            <a:r>
              <a:rPr lang="en-IN" dirty="0" err="1"/>
              <a:t>Nigade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450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C50C0-0369-5394-0FD9-C800A404C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4056" y="82484"/>
            <a:ext cx="10018713" cy="1752599"/>
          </a:xfrm>
        </p:spPr>
        <p:txBody>
          <a:bodyPr/>
          <a:lstStyle/>
          <a:p>
            <a:r>
              <a:rPr lang="en-IN" b="1" dirty="0"/>
              <a:t>What is </a:t>
            </a:r>
            <a:r>
              <a:rPr lang="en-IN" b="1" dirty="0" err="1"/>
              <a:t>Javascript</a:t>
            </a:r>
            <a:r>
              <a:rPr lang="en-IN" b="1" dirty="0"/>
              <a:t>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6A480E1-2793-E5B0-0860-061EC2C4A7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22017" y="1469795"/>
            <a:ext cx="10018713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high-level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interpreted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programming language.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Initially developed by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Brendan Eich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at Netscape.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 is a cross-platform, object-oriented scripting language used to make webpages interactive (e.g., having complex animations, clickable buttons, popup menus, etc.).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There are also more advanced server side versions of JavaScript such as Node.js, which allow you to add more functionality to a website than downloading files (such as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realtime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collaboration between multiple computers). </a:t>
            </a:r>
          </a:p>
        </p:txBody>
      </p:sp>
    </p:spTree>
    <p:extLst>
      <p:ext uri="{BB962C8B-B14F-4D97-AF65-F5344CB8AC3E}">
        <p14:creationId xmlns:p14="http://schemas.microsoft.com/office/powerpoint/2010/main" val="3477869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65F34-2191-C113-A424-707142A61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65289"/>
            <a:ext cx="10018713" cy="1086439"/>
          </a:xfrm>
        </p:spPr>
        <p:txBody>
          <a:bodyPr>
            <a:noAutofit/>
          </a:bodyPr>
          <a:lstStyle/>
          <a:p>
            <a:r>
              <a:rPr lang="en-IN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an Interpreter - Based Language ?</a:t>
            </a:r>
            <a:br>
              <a:rPr lang="en-IN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702C4-0895-1E29-BC72-60F991ADF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51728"/>
            <a:ext cx="10289768" cy="4720471"/>
          </a:xfrm>
        </p:spPr>
        <p:txBody>
          <a:bodyPr anchor="t">
            <a:no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 interpreter - based languages, there is no separate compilation phase.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</a:t>
            </a:r>
            <a:r>
              <a:rPr lang="en-IN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nstead, the code is executed line by line at runtime.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This approach doesn't create intermediate files (like bytecode or object code),making it different from compiler-based languages.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Because it interprets each line as it’s executed, it can make changes and test them quickly,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though it can be slower than a fully compiled language for large programs.</a:t>
            </a:r>
          </a:p>
          <a:p>
            <a:pPr algn="just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0495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CA0F7-8991-1ED8-1BDD-2B649FCE2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0"/>
            <a:ext cx="10018713" cy="1715678"/>
          </a:xfrm>
        </p:spPr>
        <p:txBody>
          <a:bodyPr>
            <a:noAutofit/>
          </a:bodyPr>
          <a:lstStyle/>
          <a:p>
            <a:r>
              <a:rPr lang="en-IN" sz="2800" b="1" dirty="0"/>
              <a:t>History</a:t>
            </a:r>
            <a:br>
              <a:rPr lang="en-IN" sz="2800" b="1" dirty="0"/>
            </a:br>
            <a:r>
              <a:rPr lang="en-US" sz="2800" b="1" dirty="0"/>
              <a:t>(ECMA was formerly an acronym for the European Computer Manufacturers Association) </a:t>
            </a:r>
            <a:endParaRPr lang="en-IN" sz="28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00CE8FC-A7C5-6BEE-EECD-5F79A76726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1995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JavaScript was created by Brendan Eich.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Initially called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Mocha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then changed to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LiveScript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finally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language’s official specification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ECMAScript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standardized by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ECma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International.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Milestones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ES3 (1999)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Introduced many features, including regular expressions and better string handling.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ES6 (2015)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Introduced major features like arrow functions,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let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const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classes, promises, and more.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8BD980-C9B7-EBE1-F5D9-B957E97E1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643" y="1715678"/>
            <a:ext cx="11012258" cy="487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688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68B2C-5604-29EC-97F4-705297E18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10765"/>
            <a:ext cx="10018713" cy="1227842"/>
          </a:xfrm>
        </p:spPr>
        <p:txBody>
          <a:bodyPr/>
          <a:lstStyle/>
          <a:p>
            <a:r>
              <a:rPr lang="en-IN" b="1" dirty="0"/>
              <a:t>Features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AC82F03-B00F-A8B0-5DE2-3A4D6EE4F9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32366" y="1338607"/>
            <a:ext cx="10375725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Dynamically Typed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You don’t need to define the type of variable when declaring it.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Interpreted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JavaScript code is executed line by line, unlike compiled languages.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Object-Oriented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Supports objects, inheritance, and methods.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Functional Programming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First-class functions, higher-order functions.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Asynchronous Programming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Supports async/await, promises, and event-driven programming.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Multi-Paradigm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Supports object-oriented, imperative, and functional programming. </a:t>
            </a:r>
          </a:p>
        </p:txBody>
      </p:sp>
    </p:spTree>
    <p:extLst>
      <p:ext uri="{BB962C8B-B14F-4D97-AF65-F5344CB8AC3E}">
        <p14:creationId xmlns:p14="http://schemas.microsoft.com/office/powerpoint/2010/main" val="1080426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426D7-D086-7766-8B5C-CCF9ABA18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616" y="82485"/>
            <a:ext cx="10018713" cy="1752599"/>
          </a:xfrm>
        </p:spPr>
        <p:txBody>
          <a:bodyPr/>
          <a:lstStyle/>
          <a:p>
            <a:r>
              <a:rPr lang="en-IN" b="1" dirty="0"/>
              <a:t> Envir0nment Set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0E0AD-D659-54E1-E90A-DB57D3E9D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0615" y="1328393"/>
            <a:ext cx="10018713" cy="3124201"/>
          </a:xfrm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Install Node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Js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Install Visual Studio Code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Install code runner extension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448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E9090-3C39-2C14-2529-A6EADDA77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2336" y="0"/>
            <a:ext cx="10018713" cy="1752599"/>
          </a:xfrm>
        </p:spPr>
        <p:txBody>
          <a:bodyPr/>
          <a:lstStyle/>
          <a:p>
            <a:r>
              <a:rPr lang="en-IN" b="1" dirty="0"/>
              <a:t>Data Types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6C28E3-D3E1-3865-8121-24DDA45756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25981" y="1594045"/>
            <a:ext cx="10005323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Primitive Types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String: A sequence of characters.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Number: Includes integers and floating-point numbers.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Boolean: true or false.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Null: Represents the intentional absence of any object value.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Undefined: A variable that hasn’t been assigned a value.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Symbol: A unique and immutable data type (ES6+).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Non-Primitive Types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Object: A collection of properties (key-value pairs).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Array: A collection of elements (indexed list).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509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07225-EEDB-C299-FEEB-FDAC5F4DA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91911"/>
            <a:ext cx="10018713" cy="1752599"/>
          </a:xfrm>
        </p:spPr>
        <p:txBody>
          <a:bodyPr/>
          <a:lstStyle/>
          <a:p>
            <a:r>
              <a:rPr lang="en-IN" b="1" dirty="0"/>
              <a:t>JavaScript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2025A-7DF5-4DC7-D2B8-371468431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555423"/>
            <a:ext cx="10018713" cy="4235777"/>
          </a:xfrm>
        </p:spPr>
        <p:txBody>
          <a:bodyPr anchor="t">
            <a:norm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 string represents textual data. It contains a sequence of characters. For example, "hello", "JavaScript", etc.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 JavaScript, strings are surrounded by quotes: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Single quotes: 'Hello'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Double quotes: "Hello"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Backticks: `Hello`</a:t>
            </a:r>
          </a:p>
        </p:txBody>
      </p:sp>
    </p:spTree>
    <p:extLst>
      <p:ext uri="{BB962C8B-B14F-4D97-AF65-F5344CB8AC3E}">
        <p14:creationId xmlns:p14="http://schemas.microsoft.com/office/powerpoint/2010/main" val="947787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1602E-5BB8-8610-CAA5-E87E7EBEF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189" y="365289"/>
            <a:ext cx="10018713" cy="945037"/>
          </a:xfrm>
        </p:spPr>
        <p:txBody>
          <a:bodyPr/>
          <a:lstStyle/>
          <a:p>
            <a:r>
              <a:rPr lang="en-IN" b="1" dirty="0"/>
              <a:t>Examples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53D2FF-8B45-3D74-29A2-42378010AA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4313" y="1310327"/>
            <a:ext cx="10018712" cy="4581426"/>
          </a:xfrm>
        </p:spPr>
      </p:pic>
    </p:spTree>
    <p:extLst>
      <p:ext uri="{BB962C8B-B14F-4D97-AF65-F5344CB8AC3E}">
        <p14:creationId xmlns:p14="http://schemas.microsoft.com/office/powerpoint/2010/main" val="1703475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7052E-F44C-FE03-3DBC-35FDC1B5B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616" y="190500"/>
            <a:ext cx="10018713" cy="1016131"/>
          </a:xfrm>
        </p:spPr>
        <p:txBody>
          <a:bodyPr/>
          <a:lstStyle/>
          <a:p>
            <a:r>
              <a:rPr lang="en-IN" b="1" dirty="0" err="1"/>
              <a:t>typeof</a:t>
            </a:r>
            <a:r>
              <a:rPr lang="en-IN" b="1" dirty="0"/>
              <a:t>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22783-4F93-78B4-8C46-7B8461FC6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89435"/>
            <a:ext cx="10018713" cy="5297864"/>
          </a:xfrm>
        </p:spPr>
        <p:txBody>
          <a:bodyPr anchor="t">
            <a:normAutofit fontScale="62500" lnSpcReduction="20000"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`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` is used to determine the data type of a variable or value</a:t>
            </a:r>
          </a:p>
          <a:p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let 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= 10;</a:t>
            </a:r>
          </a:p>
          <a:p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console.log(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); // Output: "number"</a:t>
            </a:r>
          </a:p>
          <a:p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= "Hello";</a:t>
            </a:r>
          </a:p>
          <a:p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console.log(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); // Output: "string"</a:t>
            </a:r>
          </a:p>
          <a:p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= true;</a:t>
            </a:r>
          </a:p>
          <a:p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console.log(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); // Output: "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boolean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let 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unassignedVar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console.log(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unassignedVar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); // Output: "undefined"</a:t>
            </a:r>
          </a:p>
          <a:p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let 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nullVar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= null;</a:t>
            </a:r>
          </a:p>
          <a:p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console.log(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nullVar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); // Output: "object" (this is a known bug in JavaScript)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CB7950D-F56A-FF84-FAC4-3E7FD70AD494}"/>
                  </a:ext>
                </a:extLst>
              </p14:cNvPr>
              <p14:cNvContentPartPr/>
              <p14:nvPr/>
            </p14:nvContentPartPr>
            <p14:xfrm>
              <a:off x="2779872" y="1952265"/>
              <a:ext cx="16200" cy="7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CB7950D-F56A-FF84-FAC4-3E7FD70AD49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71232" y="1943265"/>
                <a:ext cx="33840" cy="2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8C421F9D-B479-F2B8-2C65-BB8707058F6B}"/>
              </a:ext>
            </a:extLst>
          </p:cNvPr>
          <p:cNvGrpSpPr/>
          <p:nvPr/>
        </p:nvGrpSpPr>
        <p:grpSpPr>
          <a:xfrm>
            <a:off x="6457632" y="1860825"/>
            <a:ext cx="3807720" cy="167400"/>
            <a:chOff x="6457632" y="1860825"/>
            <a:chExt cx="3807720" cy="16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E7F255F-3826-7699-BA83-B30375EA8AD9}"/>
                    </a:ext>
                  </a:extLst>
                </p14:cNvPr>
                <p14:cNvContentPartPr/>
                <p14:nvPr/>
              </p14:nvContentPartPr>
              <p14:xfrm>
                <a:off x="6513792" y="1889985"/>
                <a:ext cx="1142640" cy="17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E7F255F-3826-7699-BA83-B30375EA8AD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05152" y="1881345"/>
                  <a:ext cx="11602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90402A8-FF23-C6D7-88B8-A299F0296AF5}"/>
                    </a:ext>
                  </a:extLst>
                </p14:cNvPr>
                <p14:cNvContentPartPr/>
                <p14:nvPr/>
              </p14:nvContentPartPr>
              <p14:xfrm>
                <a:off x="6457632" y="1878105"/>
                <a:ext cx="1441440" cy="1144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90402A8-FF23-C6D7-88B8-A299F0296AF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448632" y="1869465"/>
                  <a:ext cx="14590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78E4EB9-75BF-0420-95CF-9B319DA7E754}"/>
                    </a:ext>
                  </a:extLst>
                </p14:cNvPr>
                <p14:cNvContentPartPr/>
                <p14:nvPr/>
              </p14:nvContentPartPr>
              <p14:xfrm>
                <a:off x="8545632" y="1860825"/>
                <a:ext cx="1685160" cy="77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78E4EB9-75BF-0420-95CF-9B319DA7E75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536632" y="1851825"/>
                  <a:ext cx="17028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C610084-02AF-89B6-1362-BD30D8B44866}"/>
                    </a:ext>
                  </a:extLst>
                </p14:cNvPr>
                <p14:cNvContentPartPr/>
                <p14:nvPr/>
              </p14:nvContentPartPr>
              <p14:xfrm>
                <a:off x="8400192" y="1905105"/>
                <a:ext cx="1865160" cy="123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C610084-02AF-89B6-1362-BD30D8B4486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391552" y="1896105"/>
                  <a:ext cx="1882800" cy="140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68850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6E347-0C3E-63BA-2F68-99058F169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5202" y="0"/>
            <a:ext cx="10018713" cy="1752599"/>
          </a:xfrm>
        </p:spPr>
        <p:txBody>
          <a:bodyPr/>
          <a:lstStyle/>
          <a:p>
            <a:r>
              <a:rPr lang="en-IN" b="1" dirty="0"/>
              <a:t>Working with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F8C23-4C9E-91E8-C754-56DE9136C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5712" y="1866899"/>
            <a:ext cx="10018713" cy="3124201"/>
          </a:xfrm>
        </p:spPr>
        <p:txBody>
          <a:bodyPr anchor="t"/>
          <a:lstStyle/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1. No Need to Declare Variable Type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2. Same Variable Can Be Assigned Values of Different Types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3. No Scoping Information in Variable Declarations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4. Variable and Values Can Be Interrogated(Using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224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E747A-2596-09D4-55A8-1E5858923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5202" y="0"/>
            <a:ext cx="10018713" cy="1752599"/>
          </a:xfrm>
        </p:spPr>
        <p:txBody>
          <a:bodyPr/>
          <a:lstStyle/>
          <a:p>
            <a:r>
              <a:rPr lang="en-IN" b="1" dirty="0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292C6-C627-DBF5-5167-42DE5E361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9691" y="1752599"/>
            <a:ext cx="9853332" cy="4167434"/>
          </a:xfrm>
        </p:spPr>
        <p:txBody>
          <a:bodyPr anchor="t">
            <a:normAutofit lnSpcReduction="10000"/>
          </a:bodyPr>
          <a:lstStyle/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let: Block-scoped  and Global variable.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const: Block-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scoped,Global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read-only variable.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var: Function-scoped/global-scoped variable (older, generally avoided now).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let name = "Alice"; // Mutable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const country = "USA"; // Immutable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(true) {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let temp = "Hot"; // Block-scoped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const pi = 3.14;  // Block-scoped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553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26113-F4B5-B686-7DDE-05D3ABC02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0409"/>
            <a:ext cx="10018713" cy="577392"/>
          </a:xfrm>
        </p:spPr>
        <p:txBody>
          <a:bodyPr>
            <a:noAutofit/>
          </a:bodyPr>
          <a:lstStyle/>
          <a:p>
            <a:r>
              <a:rPr lang="en-IN" b="1" dirty="0"/>
              <a:t>Understand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A1367-1AB1-8DAA-45F7-5C43E68D0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16EB4D-839D-E292-E0DD-449041992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264" y="1055016"/>
            <a:ext cx="10514803" cy="5151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503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C2212-E271-D83B-E9E8-93D53CFBC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35610"/>
          </a:xfrm>
        </p:spPr>
        <p:txBody>
          <a:bodyPr/>
          <a:lstStyle/>
          <a:p>
            <a:r>
              <a:rPr lang="en-IN" b="1" dirty="0"/>
              <a:t>Redeclaration for let and var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14B78-CD4D-EC4F-6333-AB6A34279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2045" y="1819373"/>
            <a:ext cx="10576875" cy="3971827"/>
          </a:xfrm>
        </p:spPr>
        <p:txBody>
          <a:bodyPr anchor="t">
            <a:normAutofit/>
          </a:bodyPr>
          <a:lstStyle/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var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userName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“Tom";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var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userName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“Jerry"; // No error, `name` is re-declared and re-assigned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console.log(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userName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); // “Jerry“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let age = 25;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let age = 30; //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SyntaxError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Identifier 'age' has already been declared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console.log(age); // "Bob"</a:t>
            </a:r>
          </a:p>
        </p:txBody>
      </p:sp>
    </p:spTree>
    <p:extLst>
      <p:ext uri="{BB962C8B-B14F-4D97-AF65-F5344CB8AC3E}">
        <p14:creationId xmlns:p14="http://schemas.microsoft.com/office/powerpoint/2010/main" val="5583407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FC8BE-4A85-FF03-D4F3-515178357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33314"/>
            <a:ext cx="10018713" cy="1058159"/>
          </a:xfrm>
        </p:spPr>
        <p:txBody>
          <a:bodyPr/>
          <a:lstStyle/>
          <a:p>
            <a:r>
              <a:rPr lang="en-IN" b="1" dirty="0"/>
              <a:t>Scope for var and let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FDBEF-DEA4-A517-BD03-A55E243C4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0899" y="1291473"/>
            <a:ext cx="10202123" cy="5333213"/>
          </a:xfrm>
        </p:spPr>
        <p:txBody>
          <a:bodyPr anchor="t">
            <a:noAutofit/>
          </a:bodyPr>
          <a:lstStyle/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(true)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var x = 10;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let y = 20;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console.log("inside function y value " +y);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}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console.log(x); // 10 (accessible because `var` is function-scoped or globally scoped)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console.log(y); //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ReferenceError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y is not defined (because `let` is block-scoped)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476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A2E0E-FF53-13D8-5686-B4D3DB41F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605672"/>
          </a:xfrm>
        </p:spPr>
        <p:txBody>
          <a:bodyPr>
            <a:noAutofit/>
          </a:bodyPr>
          <a:lstStyle/>
          <a:p>
            <a:r>
              <a:rPr lang="en-IN" b="1" dirty="0"/>
              <a:t>Working with constants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0193B-2282-E1D7-C13C-7ADF92C63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715678"/>
            <a:ext cx="10018713" cy="4075522"/>
          </a:xfrm>
        </p:spPr>
        <p:txBody>
          <a:bodyPr anchor="t">
            <a:normAutofit/>
          </a:bodyPr>
          <a:lstStyle/>
          <a:p>
            <a:pPr marL="0" indent="0" algn="just" defTabSz="9144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const PI = 3.14159; // A constant for the value of PI</a:t>
            </a:r>
          </a:p>
          <a:p>
            <a:pPr marL="0" indent="0" algn="just" defTabSz="9144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defTabSz="9144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Trying to reassign a const variable will cause an error</a:t>
            </a:r>
          </a:p>
          <a:p>
            <a:pPr marL="0" indent="0" algn="just" defTabSz="9144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PI = 3.14; // ❌ Error: Assignment to constant variable</a:t>
            </a:r>
          </a:p>
          <a:p>
            <a:pPr marL="0" indent="0" algn="just" defTabSz="9144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defTabSz="9144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Use const for values that should not change</a:t>
            </a:r>
          </a:p>
          <a:p>
            <a:pPr marL="0" indent="0" algn="just" defTabSz="9144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const BASE_URL = "https://api.example.com";</a:t>
            </a:r>
          </a:p>
          <a:p>
            <a:pPr marL="0" indent="0" algn="just" defTabSz="9144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console.log(BASE_URL);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768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09082-91B5-262B-8104-5120199AB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81785"/>
            <a:ext cx="10018713" cy="87198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Hoisting in JavaScript</a:t>
            </a:r>
            <a:br>
              <a:rPr lang="en-US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B0FC5-C275-5B30-8D2D-81D3E5817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112363"/>
            <a:ext cx="10018713" cy="5646656"/>
          </a:xfrm>
        </p:spPr>
        <p:txBody>
          <a:bodyPr anchor="t">
            <a:no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JavaScript moves variable declarations to the top of their scope (hoisting)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Only declarations are hoisted, not initializations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Hoisting is the behavior where you can able to access variable before even declaring it.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console.log(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hoistedVar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); // Output: undefined (variable declared but not initialized yet)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var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hoistedVar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"I'm hoisted!";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console.log(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hoistedVar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); // Output: "I'm hoisted!"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Note: "let" and "const" are not hoisted in the same way as "var"; using them before declaration will cause an error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console.log(b); //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ReferenceError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Cannot access 'b' before initialization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let b = 10;</a:t>
            </a: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5534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00291-B22A-6196-56A1-8CFDF1073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01102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Hoisting in JavaScript</a:t>
            </a:r>
            <a:br>
              <a:rPr lang="en-US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3620E-CBD3-B008-06FB-F66105544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282045"/>
            <a:ext cx="10018713" cy="4509155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var: Variables declared with var are hoisted to the top of their scope, meaning they are moved to the top of the function or global scope and are initialized with undefined.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However, they are only assigned a value when the code reaches their actual line of assignment.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let: Accessing a let variable before its declaration results in a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ReferenceError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due to the temporal dead zone(the period between the beginning of the block and the declaration line).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5DA8191-BC08-CE41-88B6-B2B0C8E14DAE}"/>
              </a:ext>
            </a:extLst>
          </p:cNvPr>
          <p:cNvGrpSpPr/>
          <p:nvPr/>
        </p:nvGrpSpPr>
        <p:grpSpPr>
          <a:xfrm>
            <a:off x="995712" y="4206225"/>
            <a:ext cx="750600" cy="635400"/>
            <a:chOff x="995712" y="4206225"/>
            <a:chExt cx="750600" cy="63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4865EA0-91D0-3DE6-0E67-10830F02FC16}"/>
                    </a:ext>
                  </a:extLst>
                </p14:cNvPr>
                <p14:cNvContentPartPr/>
                <p14:nvPr/>
              </p14:nvContentPartPr>
              <p14:xfrm>
                <a:off x="1091832" y="4294785"/>
                <a:ext cx="563760" cy="2862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4865EA0-91D0-3DE6-0E67-10830F02FC1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83192" y="4286145"/>
                  <a:ext cx="58140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1FB16C0-3AE7-73F6-887F-35016BF2F985}"/>
                    </a:ext>
                  </a:extLst>
                </p14:cNvPr>
                <p14:cNvContentPartPr/>
                <p14:nvPr/>
              </p14:nvContentPartPr>
              <p14:xfrm>
                <a:off x="995712" y="4370745"/>
                <a:ext cx="708840" cy="470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1FB16C0-3AE7-73F6-887F-35016BF2F98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86712" y="4361745"/>
                  <a:ext cx="726480" cy="48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E9CC04F-B404-6EF6-1623-1F649758078F}"/>
                    </a:ext>
                  </a:extLst>
                </p14:cNvPr>
                <p14:cNvContentPartPr/>
                <p14:nvPr/>
              </p14:nvContentPartPr>
              <p14:xfrm>
                <a:off x="1519512" y="4206225"/>
                <a:ext cx="226800" cy="3992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E9CC04F-B404-6EF6-1623-1F649758078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10512" y="4197585"/>
                  <a:ext cx="244440" cy="416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8182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2BB6A-B7DF-C12A-DDFA-F8592011D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48472"/>
            <a:ext cx="10018713" cy="66223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Operators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014150C-C639-1D27-6CF4-14A851ED6F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0" y="3300437"/>
            <a:ext cx="102614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6A1F10-9638-D740-872A-0401CDF6E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085" y="865568"/>
            <a:ext cx="10018712" cy="5331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3187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BE751-B1A9-987A-2859-826F60030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22548"/>
            <a:ext cx="10018713" cy="1253765"/>
          </a:xfrm>
        </p:spPr>
        <p:txBody>
          <a:bodyPr/>
          <a:lstStyle/>
          <a:p>
            <a:r>
              <a:rPr lang="en-IN" b="1" dirty="0"/>
              <a:t>Loose Equality == Vs Strict Equality===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72165-7608-75AE-B4D1-AD900580E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517716"/>
            <a:ext cx="10487731" cy="4565715"/>
          </a:xfrm>
        </p:spPr>
        <p:txBody>
          <a:bodyPr anchor="t">
            <a:noAutofit/>
          </a:bodyPr>
          <a:lstStyle/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== (loose equality) compares values with type coercion. 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converts operands to the same type before comparing them.</a:t>
            </a: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=== (strict equality) compares both values and types without type coercion.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console.log(5 == "5");  // Output: true (because '5' is coerced to number)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console.log(5 === "5");  // Output: false (because types are different)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console.log(null == undefined); // true - Special case where null and undefined are loosely equal.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console.log(null === undefined); // false - Strict equality checks type and value, which differ here.</a:t>
            </a:r>
          </a:p>
          <a:p>
            <a:pPr algn="just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63885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AD618-4F8B-1304-A5EB-038A64612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74715"/>
            <a:ext cx="10018713" cy="1152427"/>
          </a:xfrm>
        </p:spPr>
        <p:txBody>
          <a:bodyPr/>
          <a:lstStyle/>
          <a:p>
            <a:r>
              <a:rPr lang="en-IN" b="1" dirty="0"/>
              <a:t>Guess Output?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DF19FB-476F-BB98-B6B5-9D2BF7F370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42683" y="1527143"/>
            <a:ext cx="7830495" cy="4722828"/>
          </a:xfrm>
        </p:spPr>
      </p:pic>
    </p:spTree>
    <p:extLst>
      <p:ext uri="{BB962C8B-B14F-4D97-AF65-F5344CB8AC3E}">
        <p14:creationId xmlns:p14="http://schemas.microsoft.com/office/powerpoint/2010/main" val="25571377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560E-914A-859C-654A-1404C12F8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91913"/>
            <a:ext cx="10018713" cy="974888"/>
          </a:xfrm>
        </p:spPr>
        <p:txBody>
          <a:bodyPr/>
          <a:lstStyle/>
          <a:p>
            <a:r>
              <a:rPr lang="en-IN" b="1" dirty="0"/>
              <a:t>Type 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E94E7-FAB2-ED8F-D863-6904CAE61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066801"/>
            <a:ext cx="10018713" cy="4724399"/>
          </a:xfrm>
        </p:spPr>
        <p:txBody>
          <a:bodyPr anchor="t"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1.Implicit: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Type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Coercion: Automatic type conversion by JavaScript to make expressions work even if data types don't match.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2.Explicit conversion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Number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String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Boolean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62651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7325C-72E0-FD71-1EC8-16D0E128C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2909" y="205034"/>
            <a:ext cx="10018713" cy="3810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String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79FBB-183D-08DA-5420-7D635F3DC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791852"/>
            <a:ext cx="10431170" cy="5750349"/>
          </a:xfrm>
        </p:spPr>
        <p:txBody>
          <a:bodyPr anchor="t">
            <a:noAutofit/>
          </a:bodyPr>
          <a:lstStyle/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String conversion occurs when we output something, concatenate strings, or perform certain operations.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JavaScript implicitly converts other types to strings when they are used in string operations.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let result1 = "Hello" + " " + "World";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console.log(result1); // "Hello World"</a:t>
            </a:r>
          </a:p>
          <a:p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Mixing Numbers and Strings in Concatenation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console.log("5" + 2 + 3); // "523" - Number 2 and 3 are coerced into strings and concatenated.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console.log(5 + 2 + "3"); // "73" - Number 5 and 2  are operate and concatenated.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console.log("hello" + true);//’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hellotrue</a:t>
            </a:r>
            <a:r>
              <a:rPr lang="en-IN" sz="1800">
                <a:latin typeface="Arial" panose="020B0604020202020204" pitchFamily="34" charset="0"/>
                <a:cs typeface="Arial" panose="020B0604020202020204" pitchFamily="34" charset="0"/>
              </a:rPr>
              <a:t>” 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– true coerced into string and concatenated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----------------------</a:t>
            </a:r>
          </a:p>
          <a:p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 Explicit String Conversion using String()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let value = 100;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Let 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convertedToString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= String(value);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console.log(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convertedToString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); // "100"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console.log(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convertedToString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); // "string"</a:t>
            </a:r>
          </a:p>
        </p:txBody>
      </p:sp>
    </p:spTree>
    <p:extLst>
      <p:ext uri="{BB962C8B-B14F-4D97-AF65-F5344CB8AC3E}">
        <p14:creationId xmlns:p14="http://schemas.microsoft.com/office/powerpoint/2010/main" val="34201172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B5A2A-4218-1EED-DDE4-D3F84EF53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"/>
            <a:ext cx="10018713" cy="1310326"/>
          </a:xfrm>
        </p:spPr>
        <p:txBody>
          <a:bodyPr/>
          <a:lstStyle/>
          <a:p>
            <a:r>
              <a:rPr lang="en-IN" b="1" dirty="0"/>
              <a:t>Number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DA1FF-1B11-E2E9-948C-CE7996CC4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168924"/>
            <a:ext cx="10327476" cy="5184741"/>
          </a:xfrm>
        </p:spPr>
        <p:txBody>
          <a:bodyPr anchor="t">
            <a:noAutofit/>
          </a:bodyPr>
          <a:lstStyle/>
          <a:p>
            <a:pPr algn="just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Numeric conversion happens when we perform mathematical operations.</a:t>
            </a:r>
          </a:p>
          <a:p>
            <a:pPr algn="just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JavaScript tries to convert values to numbers when used with arithmetic operators.</a:t>
            </a:r>
          </a:p>
          <a:p>
            <a:pPr algn="just"/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let result4 = "10" * 2;</a:t>
            </a:r>
          </a:p>
          <a:p>
            <a:pPr algn="just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console.log(result4); // 20 - "10" is coerced to number 10 for multiplication.</a:t>
            </a:r>
          </a:p>
          <a:p>
            <a:pPr algn="just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let result5 = Number("5") + 3;</a:t>
            </a:r>
          </a:p>
          <a:p>
            <a:pPr algn="just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console.log(result5); // 8 - Explicit numeric conversion using Number()</a:t>
            </a:r>
          </a:p>
          <a:p>
            <a:pPr algn="just"/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 Edge Case - Non-numeric strings convert to </a:t>
            </a:r>
            <a:r>
              <a:rPr lang="en-I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NaN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let result6 = Number("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abc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");</a:t>
            </a:r>
          </a:p>
          <a:p>
            <a:pPr algn="just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console.log(result6); //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NaN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(Not a Number)</a:t>
            </a:r>
          </a:p>
          <a:p>
            <a:pPr algn="just"/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0790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28E46-E51C-30D2-51E0-93AABC33B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4055" y="167327"/>
            <a:ext cx="10018713" cy="765928"/>
          </a:xfrm>
        </p:spPr>
        <p:txBody>
          <a:bodyPr/>
          <a:lstStyle/>
          <a:p>
            <a:r>
              <a:rPr lang="en-IN" b="1" dirty="0"/>
              <a:t>Truthy vs </a:t>
            </a:r>
            <a:r>
              <a:rPr lang="en-IN" b="1" dirty="0" err="1"/>
              <a:t>Falsy</a:t>
            </a:r>
            <a:r>
              <a:rPr lang="en-IN" b="1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DD73E-AB32-0ABD-3197-CE57F99AC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131217"/>
            <a:ext cx="10018713" cy="4659984"/>
          </a:xfrm>
        </p:spPr>
        <p:txBody>
          <a:bodyPr anchor="t">
            <a:noAutofit/>
          </a:bodyPr>
          <a:lstStyle/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Truthy values are values that evaluate to true in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boolean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contexts (e.g., all non-zero numbers, non-empty strings).</a:t>
            </a:r>
          </a:p>
          <a:p>
            <a:pPr algn="just"/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Falsy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values are values that evaluate to false (e.g., 0, "", null, undefined,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NaN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false).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console.log(Boolean(0));  // Output: false (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falsy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value)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console.log(Boolean(1));  // Output: true (truthy value)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console.log(Boolean("Hello"));  // Output: true (truthy value)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console.log(Boolean(""));  // Output: false (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falsy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value)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console.log(Boolean(null));  // Output: false (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falsy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330964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0031D-0791-549C-7FE3-70FA9F6B5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935610"/>
          </a:xfrm>
        </p:spPr>
        <p:txBody>
          <a:bodyPr/>
          <a:lstStyle/>
          <a:p>
            <a:r>
              <a:rPr lang="en-IN" b="1" dirty="0"/>
              <a:t>Boolean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B86EF-F8A2-3EA1-ECEE-438FCF69C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801279"/>
            <a:ext cx="10018713" cy="4989922"/>
          </a:xfrm>
        </p:spPr>
        <p:txBody>
          <a:bodyPr anchor="t"/>
          <a:lstStyle/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Boolean conversion occurs in logical contexts, and some values are inherently "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falsy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."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console.log(Boolean(0)); // false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console.log(Boolean("")); // false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console.log(Boolean(undefined)); // false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console.log(Boolean(null)); // false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console.log(Boolean("hello")); // true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console.log(Boolean(1)); // true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console.log(Boolean(10.0)); // true</a:t>
            </a:r>
          </a:p>
        </p:txBody>
      </p:sp>
    </p:spTree>
    <p:extLst>
      <p:ext uri="{BB962C8B-B14F-4D97-AF65-F5344CB8AC3E}">
        <p14:creationId xmlns:p14="http://schemas.microsoft.com/office/powerpoint/2010/main" val="41046526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8147-1082-62DF-1F73-7A43FC227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1752599"/>
          </a:xfrm>
        </p:spPr>
        <p:txBody>
          <a:bodyPr/>
          <a:lstStyle/>
          <a:p>
            <a:r>
              <a:rPr lang="en-IN" b="1" dirty="0"/>
              <a:t>Conditional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262BB-3184-B7CC-1B6F-EF726C200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376313"/>
            <a:ext cx="10018713" cy="4414887"/>
          </a:xfrm>
        </p:spPr>
        <p:txBody>
          <a:bodyPr anchor="t"/>
          <a:lstStyle/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Simple If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If- else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Ladder-if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Nested-If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Switch case</a:t>
            </a:r>
          </a:p>
        </p:txBody>
      </p:sp>
    </p:spTree>
    <p:extLst>
      <p:ext uri="{BB962C8B-B14F-4D97-AF65-F5344CB8AC3E}">
        <p14:creationId xmlns:p14="http://schemas.microsoft.com/office/powerpoint/2010/main" val="20269551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48A74-A51E-9005-017A-EFF079743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1763" y="190500"/>
            <a:ext cx="10018713" cy="1223521"/>
          </a:xfrm>
        </p:spPr>
        <p:txBody>
          <a:bodyPr/>
          <a:lstStyle/>
          <a:p>
            <a:r>
              <a:rPr lang="en-IN" b="1" dirty="0"/>
              <a:t>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8E2F5-31F3-82C6-A097-8EEACACCA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1762" y="1310327"/>
            <a:ext cx="10563145" cy="4471447"/>
          </a:xfrm>
        </p:spPr>
        <p:txBody>
          <a:bodyPr anchor="t"/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1. **While Loop**: Repeats a block of code as long as a specified condition is true.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2. **Do...While Loop**: Similar to the while loop but ensures the code runs at least once.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3. **For Loop**: A loop with initialization, condition, and increment all in one line, often used when the number of iterations is known.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4. **For...In Loop**: Used to iterate over the properties of an object.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5. **For...Of Loop**: Used to iterate over the values in an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iterable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like an array or string.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81782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CE361-15AB-B0F1-0BD5-453B027F4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4055" y="91912"/>
            <a:ext cx="10018713" cy="1095866"/>
          </a:xfrm>
        </p:spPr>
        <p:txBody>
          <a:bodyPr/>
          <a:lstStyle/>
          <a:p>
            <a:r>
              <a:rPr lang="en-IN" b="1" dirty="0" err="1"/>
              <a:t>For..of</a:t>
            </a:r>
            <a:r>
              <a:rPr lang="en-IN" b="1" dirty="0"/>
              <a:t> and </a:t>
            </a:r>
            <a:r>
              <a:rPr lang="en-IN" b="1" dirty="0" err="1"/>
              <a:t>for..in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2AEA2-E5D9-68C2-0ED7-4F3CAEA4C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272619"/>
            <a:ext cx="10018713" cy="4518582"/>
          </a:xfrm>
        </p:spPr>
        <p:txBody>
          <a:bodyPr anchor="t"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for...of: Iterates over values of an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iterable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object (arrays, strings, maps, etc.).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when you need to iterate over the actual values, not the indexes/keys.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for...in: Iterates over keys of an object or indexes of an array.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when you need to access object keys or array indexes.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39099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82A61-7344-9CA6-62B6-F4F5AC359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8896" y="0"/>
            <a:ext cx="10018713" cy="867266"/>
          </a:xfrm>
        </p:spPr>
        <p:txBody>
          <a:bodyPr>
            <a:normAutofit/>
          </a:bodyPr>
          <a:lstStyle/>
          <a:p>
            <a:r>
              <a:rPr lang="en-IN" b="1" dirty="0"/>
              <a:t>For-of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CE605-0B07-D1DF-5CD2-5A4D8A596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0899" y="791852"/>
            <a:ext cx="10322350" cy="5920033"/>
          </a:xfrm>
        </p:spPr>
        <p:txBody>
          <a:bodyPr>
            <a:noAutofit/>
          </a:bodyPr>
          <a:lstStyle/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for (let element of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iterable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) {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// Code to execute for each element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example array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let fruits = ["Apple", "Banana", "Cherry"];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for (let fruit of fruits) {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console.log(fruit); // Prints "Apple", "Banana", "Cherry"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example string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let greeting = "Hello";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for (let char of greeting) {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console.log(char); // Prints "H", "e", "l", "l", "o"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83999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1E8CE-118C-F5E0-76DD-4C42F9F6D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66223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For 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362D9-99F8-2ADC-60DF-76E21605A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0901" y="662233"/>
            <a:ext cx="6183983" cy="5128968"/>
          </a:xfrm>
        </p:spPr>
        <p:txBody>
          <a:bodyPr anchor="t"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(let key in object) {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// Code to execute for each key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let person = {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name: "Alice",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age: 25,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city: "New York"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};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(let key in person) {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console.log(key + ": " + person[key]);  //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Prints"name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Alice", "age: 25", "city: New York“ }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FBCEC2-C345-A7E2-403B-6357AC4A261A}"/>
              </a:ext>
            </a:extLst>
          </p:cNvPr>
          <p:cNvSpPr txBox="1"/>
          <p:nvPr/>
        </p:nvSpPr>
        <p:spPr>
          <a:xfrm>
            <a:off x="6278251" y="1531855"/>
            <a:ext cx="618398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Array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let numbers = [10, 20, 30];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(let index in numbers)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console.log(index + ": " +numbers[index]);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} // Prints "0: 10", "1: 20", "2: 30"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0019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F3087-8150-2F28-8CDC-C1F54A57A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470" y="205034"/>
            <a:ext cx="10018713" cy="935610"/>
          </a:xfrm>
        </p:spPr>
        <p:txBody>
          <a:bodyPr/>
          <a:lstStyle/>
          <a:p>
            <a:r>
              <a:rPr lang="en-IN" b="1" dirty="0"/>
              <a:t>Array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A56A0EF-BC8A-E01F-DFD6-66C19F8AEF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08289" y="1140644"/>
            <a:ext cx="973905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Arrays store a list of values.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Methods to manipulate arrays: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push()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pop()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shift()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unshift()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let numbers = [1, 2, 3, 4, 5];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numbers.push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(6); // Adds 6 at the end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console.log(numbers); // [1, 2, 3, 4, 5, 6]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let squares =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numbers.map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(num =&gt; num * num);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console.log(squares); // [1, 4, 9, 16, 25, 36]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447653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73CB3-B475-2383-A94C-E31955F4E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997277"/>
          </a:xfrm>
        </p:spPr>
        <p:txBody>
          <a:bodyPr/>
          <a:lstStyle/>
          <a:p>
            <a:r>
              <a:rPr lang="en-IN" b="1" dirty="0"/>
              <a:t>Array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BC664-5D8F-BC4A-7EF7-64A37DF1E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036948"/>
            <a:ext cx="10018713" cy="5703217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2400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Add Element to an Array</a:t>
            </a:r>
          </a:p>
          <a:p>
            <a:pPr algn="just"/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We can add elements to an array using built-in methods like push() and unshift().</a:t>
            </a:r>
          </a:p>
          <a:p>
            <a:pPr algn="just"/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1. Using the push() Method</a:t>
            </a:r>
          </a:p>
          <a:p>
            <a:pPr algn="just"/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push() method adds an element at the end of the array.</a:t>
            </a:r>
          </a:p>
          <a:p>
            <a:pPr algn="just"/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 Using the unshift() Method</a:t>
            </a:r>
          </a:p>
          <a:p>
            <a:pPr algn="just"/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unshift() method adds an element at the beginning of the array.</a:t>
            </a:r>
          </a:p>
          <a:p>
            <a:pPr algn="just"/>
            <a:r>
              <a:rPr lang="en-US" sz="2400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Remove elements from an array using pop() and shift() methods.</a:t>
            </a:r>
          </a:p>
          <a:p>
            <a:pPr algn="just"/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We can remove an element from an array using built-in methods like pop() and shift().</a:t>
            </a:r>
          </a:p>
          <a:p>
            <a:pPr algn="just"/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1. Remove the last element using pop().</a:t>
            </a:r>
          </a:p>
          <a:p>
            <a:pPr algn="just"/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 Remove the first element using shift().</a:t>
            </a:r>
          </a:p>
          <a:p>
            <a:pPr algn="just"/>
            <a:r>
              <a:rPr lang="en-US" sz="2400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Length of an Array.</a:t>
            </a:r>
          </a:p>
          <a:p>
            <a:pPr algn="just"/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We can find the length of an array using the length property.</a:t>
            </a:r>
            <a:endParaRPr lang="en-IN" sz="2400" kern="1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7479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3D454-ADE9-6D6D-8311-7D2C96477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23887"/>
            <a:ext cx="10018713" cy="709367"/>
          </a:xfrm>
        </p:spPr>
        <p:txBody>
          <a:bodyPr/>
          <a:lstStyle/>
          <a:p>
            <a:r>
              <a:rPr lang="en-IN" b="1" dirty="0"/>
              <a:t>Array Methods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8208E-F3FE-C8A8-0C4A-9EAF41935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8004" y="1743959"/>
            <a:ext cx="10018713" cy="3528767"/>
          </a:xfrm>
        </p:spPr>
        <p:txBody>
          <a:bodyPr>
            <a:noAutofit/>
          </a:bodyPr>
          <a:lstStyle/>
          <a:p>
            <a:pPr algn="just"/>
            <a:r>
              <a:rPr lang="en-US" sz="2000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Remove Elements From an Array at specified index</a:t>
            </a:r>
          </a:p>
          <a:p>
            <a:pPr algn="just"/>
            <a:r>
              <a:rPr lang="en-US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We can remove an element from any specified index of an array using the splice() method.</a:t>
            </a:r>
          </a:p>
          <a:p>
            <a:pPr algn="just"/>
            <a:r>
              <a:rPr lang="en-US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let numbers = [1, 2, 3, 4, 5];</a:t>
            </a:r>
          </a:p>
          <a:p>
            <a:pPr algn="just"/>
            <a:r>
              <a:rPr lang="en-US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// remove one element starting from index 2</a:t>
            </a:r>
          </a:p>
          <a:p>
            <a:pPr algn="just"/>
            <a:r>
              <a:rPr lang="en-US" sz="2000" kern="1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numbers.splice</a:t>
            </a:r>
            <a:r>
              <a:rPr lang="en-US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(2, 1);</a:t>
            </a:r>
          </a:p>
          <a:p>
            <a:pPr algn="just"/>
            <a:endParaRPr lang="en-US" sz="2000" kern="1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console.log(numbers);</a:t>
            </a:r>
          </a:p>
          <a:p>
            <a:pPr algn="just"/>
            <a:r>
              <a:rPr lang="en-US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// Output: [ 1, 2, 4, 5 ]</a:t>
            </a:r>
            <a:endParaRPr lang="en-IN" sz="2000" kern="1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0218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27DC0-9691-4A24-2B92-FC22E1536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043" y="170470"/>
            <a:ext cx="10018713" cy="1752599"/>
          </a:xfrm>
        </p:spPr>
        <p:txBody>
          <a:bodyPr/>
          <a:lstStyle/>
          <a:p>
            <a:r>
              <a:rPr lang="en-IN" b="1" dirty="0"/>
              <a:t>Multi-Dimensional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AB432-CFC3-FCBB-CF67-7C8521B92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517715"/>
            <a:ext cx="10018713" cy="4273486"/>
          </a:xfrm>
        </p:spPr>
        <p:txBody>
          <a:bodyPr>
            <a:noAutofit/>
          </a:bodyPr>
          <a:lstStyle/>
          <a:p>
            <a:pPr algn="just"/>
            <a:r>
              <a:rPr lang="en-IN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 JavaScript, multidimensional arrays contain another array inside them.</a:t>
            </a:r>
          </a:p>
          <a:p>
            <a:pPr algn="just"/>
            <a:r>
              <a:rPr lang="en-IN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// multidimensional array</a:t>
            </a:r>
          </a:p>
          <a:p>
            <a:pPr algn="just"/>
            <a:r>
              <a:rPr lang="en-IN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// contains 3 separate arrays as elements</a:t>
            </a:r>
          </a:p>
          <a:p>
            <a:pPr algn="just"/>
            <a:r>
              <a:rPr lang="en-IN" sz="2000" kern="1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const</a:t>
            </a:r>
            <a:r>
              <a:rPr lang="en-IN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data = [[1, 2, 3], [1, 3, 4], [4, 5, 6]];</a:t>
            </a:r>
          </a:p>
          <a:p>
            <a:pPr algn="just"/>
            <a:r>
              <a:rPr lang="en-IN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console.log(data);</a:t>
            </a:r>
          </a:p>
          <a:p>
            <a:pPr algn="just"/>
            <a:r>
              <a:rPr lang="en-IN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// Output : [ [ 1, 2, 3 ], [ 1, 3, 4 ], [ 4, 5, 6 ] ]</a:t>
            </a: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0757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582E0-8F00-D0B1-F342-7D02F09A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2653" y="0"/>
            <a:ext cx="10018713" cy="1152427"/>
          </a:xfrm>
        </p:spPr>
        <p:txBody>
          <a:bodyPr/>
          <a:lstStyle/>
          <a:p>
            <a:r>
              <a:rPr lang="en-IN" b="1" dirty="0"/>
              <a:t>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02D2B-5D42-1C9C-2DA7-40F8E3841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554665"/>
            <a:ext cx="10018713" cy="3236536"/>
          </a:xfrm>
        </p:spPr>
        <p:txBody>
          <a:bodyPr>
            <a:noAutofit/>
          </a:bodyPr>
          <a:lstStyle/>
          <a:p>
            <a:pPr marL="457200" lvl="1" indent="0" algn="just">
              <a:buNone/>
            </a:pPr>
            <a:r>
              <a:rPr lang="en-US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The JavaScript string is a primitive data type that represents textual data. </a:t>
            </a:r>
          </a:p>
          <a:p>
            <a:pPr marL="457200" lvl="1" indent="0" algn="just">
              <a:buNone/>
            </a:pPr>
            <a:r>
              <a:rPr lang="en-US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For example, let name = "John";</a:t>
            </a:r>
          </a:p>
          <a:p>
            <a:pPr marL="457200" lvl="1" indent="0" algn="just">
              <a:buNone/>
            </a:pPr>
            <a:r>
              <a:rPr lang="en-US" b="1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1. JavaScript Strings are Immutable</a:t>
            </a:r>
          </a:p>
          <a:p>
            <a:pPr marL="457200" lvl="1" indent="0" algn="just">
              <a:buNone/>
            </a:pPr>
            <a:r>
              <a:rPr lang="en-US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In JavaScript, the characters of a string cannot be changed. </a:t>
            </a:r>
          </a:p>
          <a:p>
            <a:pPr marL="457200" lvl="1" indent="0" algn="just">
              <a:buNone/>
            </a:pPr>
            <a:r>
              <a:rPr lang="en-US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let message = "hello";</a:t>
            </a:r>
          </a:p>
          <a:p>
            <a:pPr marL="457200" lvl="1" indent="0" algn="just">
              <a:buNone/>
            </a:pPr>
            <a:r>
              <a:rPr lang="en-US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message[0] = "H";</a:t>
            </a:r>
          </a:p>
          <a:p>
            <a:pPr marL="457200" lvl="1" indent="0" algn="just">
              <a:buNone/>
            </a:pPr>
            <a:r>
              <a:rPr lang="en-US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console.log(message);  // hello</a:t>
            </a:r>
          </a:p>
          <a:p>
            <a:pPr marL="457200" lvl="1" indent="0" algn="just">
              <a:buNone/>
            </a:pPr>
            <a:r>
              <a:rPr lang="en-US" b="1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2. JavaScript Strings are Case-Sensitive</a:t>
            </a:r>
          </a:p>
          <a:p>
            <a:pPr marL="457200" lvl="1" indent="0" algn="just">
              <a:buNone/>
            </a:pPr>
            <a:r>
              <a:rPr lang="en-US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In JavaScript., the lowercase and uppercase letters are treated as different values. let value1 = "a";</a:t>
            </a:r>
          </a:p>
          <a:p>
            <a:pPr marL="457200" lvl="1" indent="0" algn="just">
              <a:buNone/>
            </a:pPr>
            <a:r>
              <a:rPr lang="en-US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let value2 = "A"</a:t>
            </a:r>
          </a:p>
          <a:p>
            <a:pPr marL="457200" lvl="1" indent="0" algn="just">
              <a:buNone/>
            </a:pPr>
            <a:r>
              <a:rPr lang="en-US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console.log(value1 == value2);  // false</a:t>
            </a: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3749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29969-CDFE-FC4A-6647-86FD67728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470" y="318156"/>
            <a:ext cx="10018713" cy="954464"/>
          </a:xfrm>
        </p:spPr>
        <p:txBody>
          <a:bodyPr/>
          <a:lstStyle/>
          <a:p>
            <a:r>
              <a:rPr lang="en-IN" b="1" dirty="0"/>
              <a:t>String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CE1EF-C439-BB6F-583E-3665F2B45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272621"/>
            <a:ext cx="10018713" cy="4518580"/>
          </a:xfrm>
        </p:spPr>
        <p:txBody>
          <a:bodyPr>
            <a:normAutofit/>
          </a:bodyPr>
          <a:lstStyle/>
          <a:p>
            <a:pPr marL="457200" lvl="1" indent="0" algn="just">
              <a:buNone/>
            </a:pPr>
            <a:r>
              <a:rPr lang="en-US" sz="2400" b="0" i="0" dirty="0" err="1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charAt</a:t>
            </a:r>
            <a:r>
              <a:rPr lang="en-US" sz="2400" b="0" i="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()	           Returns the character at the specified index.</a:t>
            </a:r>
          </a:p>
          <a:p>
            <a:pPr marL="457200" lvl="1" indent="0" algn="just">
              <a:buNone/>
            </a:pPr>
            <a:r>
              <a:rPr lang="en-US" sz="2400" b="0" i="0" dirty="0" err="1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concat</a:t>
            </a:r>
            <a:r>
              <a:rPr lang="en-US" sz="2400" b="0" i="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()	           Joins two or more strings.</a:t>
            </a:r>
          </a:p>
          <a:p>
            <a:pPr marL="457200" lvl="1" indent="0" algn="just">
              <a:buNone/>
            </a:pPr>
            <a:r>
              <a:rPr lang="en-US" sz="2400" b="0" i="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replace()	            Replace a string with another string.</a:t>
            </a:r>
          </a:p>
          <a:p>
            <a:pPr marL="457200" lvl="1" indent="0" algn="just">
              <a:buNone/>
            </a:pPr>
            <a:r>
              <a:rPr lang="en-US" sz="2400" b="0" i="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split()	                  Converts the string to an array of strings.</a:t>
            </a:r>
          </a:p>
          <a:p>
            <a:pPr marL="457200" lvl="1" indent="0" algn="just">
              <a:buNone/>
            </a:pPr>
            <a:r>
              <a:rPr lang="en-US" sz="2400" b="0" i="0" dirty="0" err="1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toLowerCase</a:t>
            </a:r>
            <a:r>
              <a:rPr lang="en-US" sz="2400" b="0" i="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()	Returns the passed string in lowercase.</a:t>
            </a:r>
          </a:p>
          <a:p>
            <a:pPr marL="457200" lvl="1" indent="0" algn="just">
              <a:buNone/>
            </a:pPr>
            <a:r>
              <a:rPr lang="en-US" sz="2400" b="0" i="0" dirty="0" err="1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toUpperCase</a:t>
            </a:r>
            <a:r>
              <a:rPr lang="en-US" sz="2400" b="0" i="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()	Returns the passed string in uppercase.</a:t>
            </a:r>
          </a:p>
          <a:p>
            <a:pPr marL="457200" lvl="1" indent="0" algn="just">
              <a:buNone/>
            </a:pPr>
            <a:r>
              <a:rPr lang="en-US" sz="2400" b="0" i="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trim()	                  Removes whitespace from the strings.</a:t>
            </a:r>
          </a:p>
          <a:p>
            <a:pPr marL="457200" lvl="1" indent="0" algn="just">
              <a:buNone/>
            </a:pPr>
            <a:r>
              <a:rPr lang="en-US" sz="2400" b="0" i="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includes()	            Searches for a string and returns a </a:t>
            </a:r>
            <a:r>
              <a:rPr lang="en-US" sz="2400" b="0" i="0" dirty="0" err="1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boolean</a:t>
            </a:r>
            <a:r>
              <a:rPr lang="en-US" sz="2400" b="0" i="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 value.</a:t>
            </a:r>
            <a:endParaRPr lang="en-IN" sz="2400" b="0" i="0" dirty="0">
              <a:effectLst/>
              <a:latin typeface="Roboto Medium" panose="02000000000000000000" pitchFamily="2" charset="0"/>
              <a:ea typeface="Roboto Medium" panose="02000000000000000000" pitchFamily="2" charset="0"/>
              <a:cs typeface="Apple Symbols" panose="02000000000000000000" pitchFamily="2" charset="-79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25244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83F01-8B09-2DA6-B0DD-1C2C2C19B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20191"/>
            <a:ext cx="10018713" cy="775355"/>
          </a:xfrm>
        </p:spPr>
        <p:txBody>
          <a:bodyPr/>
          <a:lstStyle/>
          <a:p>
            <a:r>
              <a:rPr lang="en-IN" b="1" dirty="0"/>
              <a:t>Functions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C2333BA-4DDE-B2F8-2E25-7E88A4D06B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72619" y="1121003"/>
            <a:ext cx="10680569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Functions are reusable blocks of code designed to perform specific tasks. They allow us to execute the same code at multiple points in a program, making it easier to manage, debug, and maintain.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Functions are important for modular programming, enabling code reusability and reducing redundancy.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Types of Functions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-----------------------------------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 Declaration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Defines a function with a name.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 Expression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Functions assigned to variables.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Arrow Functions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shorter syntax for writing functions (ES6+). </a:t>
            </a:r>
          </a:p>
        </p:txBody>
      </p:sp>
    </p:spTree>
    <p:extLst>
      <p:ext uri="{BB962C8B-B14F-4D97-AF65-F5344CB8AC3E}">
        <p14:creationId xmlns:p14="http://schemas.microsoft.com/office/powerpoint/2010/main" val="41203110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567EA-4481-6381-F2D3-3F0C4D3A5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381000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23B6123-E602-4BD9-C4DB-9B9B27586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AFDF08-2859-9EAB-8511-DBE5CA7DF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310" y="685801"/>
            <a:ext cx="10503102" cy="547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7859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72DE9-3003-EC74-4480-E16338B84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928840-AAF9-54A1-FEE6-D9C4BAC3DB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5771" y="685800"/>
            <a:ext cx="9977253" cy="5696146"/>
          </a:xfrm>
        </p:spPr>
      </p:pic>
    </p:spTree>
    <p:extLst>
      <p:ext uri="{BB962C8B-B14F-4D97-AF65-F5344CB8AC3E}">
        <p14:creationId xmlns:p14="http://schemas.microsoft.com/office/powerpoint/2010/main" val="41022865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21944-F942-E39D-45DD-DEBEB0864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01338"/>
            <a:ext cx="10018713" cy="52083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Object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22671D7-8E23-A2FC-1528-29C88C33C9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0" y="932467"/>
            <a:ext cx="10318049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Objects are collections of properties and methods.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Property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key-value pair.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function that is a property of an object.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 object is a variable that can store multiple data in key-value pairs.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syntax of JavaScript object is: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key1: value1,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..,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};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// create person object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 person =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name: "John",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age: 20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};console.log(person); // Output: { name: "John", age: 20 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EDC7D8-3F60-C472-3D79-D930D0CF4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3797" y="2904181"/>
            <a:ext cx="4494251" cy="293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5243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D14DC-3B6B-1E83-D20D-3FCB0AAAE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997277"/>
          </a:xfrm>
        </p:spPr>
        <p:txBody>
          <a:bodyPr/>
          <a:lstStyle/>
          <a:p>
            <a:r>
              <a:rPr lang="en-IN" b="1" dirty="0"/>
              <a:t>Constructor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0041D-D212-98C0-CA8C-DF580CAE7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8895" y="1384953"/>
            <a:ext cx="10018713" cy="3124201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Constructor Functions: Special functions used to create and initialize objects.</a:t>
            </a:r>
          </a:p>
          <a:p>
            <a:pPr algn="just"/>
            <a:r>
              <a:rPr lang="en-US" dirty="0"/>
              <a:t>new Keyword: Used to create a new instance of an object using a constructor.</a:t>
            </a:r>
          </a:p>
          <a:p>
            <a:pPr algn="just"/>
            <a:r>
              <a:rPr lang="en-US" dirty="0"/>
              <a:t>Definition:</a:t>
            </a:r>
          </a:p>
          <a:p>
            <a:pPr algn="just"/>
            <a:r>
              <a:rPr lang="en-US" dirty="0"/>
              <a:t>A constructor function is used to create and initialize objects.</a:t>
            </a:r>
          </a:p>
          <a:p>
            <a:pPr algn="just"/>
            <a:r>
              <a:rPr lang="en-US" dirty="0"/>
              <a:t>Constructor functions are typically named with a capital letter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08964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2A0D7-265B-6109-C754-FBC6B9C46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527901"/>
            <a:ext cx="10018713" cy="575035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// Constructor Function</a:t>
            </a:r>
          </a:p>
          <a:p>
            <a:r>
              <a:rPr lang="en-US" dirty="0"/>
              <a:t>function Person(name, age) {</a:t>
            </a:r>
          </a:p>
          <a:p>
            <a:r>
              <a:rPr lang="en-US" dirty="0"/>
              <a:t>  this.name = name;</a:t>
            </a:r>
          </a:p>
          <a:p>
            <a:r>
              <a:rPr lang="en-US" dirty="0"/>
              <a:t>  </a:t>
            </a:r>
            <a:r>
              <a:rPr lang="en-US" dirty="0" err="1"/>
              <a:t>this.age</a:t>
            </a:r>
            <a:r>
              <a:rPr lang="en-US" dirty="0"/>
              <a:t> = age;</a:t>
            </a:r>
          </a:p>
          <a:p>
            <a:r>
              <a:rPr lang="en-US" dirty="0"/>
              <a:t>  </a:t>
            </a:r>
            <a:r>
              <a:rPr lang="en-US" dirty="0" err="1"/>
              <a:t>this.greet</a:t>
            </a:r>
            <a:r>
              <a:rPr lang="en-US" dirty="0"/>
              <a:t> = function() {</a:t>
            </a:r>
          </a:p>
          <a:p>
            <a:r>
              <a:rPr lang="en-US" dirty="0"/>
              <a:t>    console.log(`Hello, my name is ${this.name} and I'm ${</a:t>
            </a:r>
            <a:r>
              <a:rPr lang="en-US" dirty="0" err="1"/>
              <a:t>this.age</a:t>
            </a:r>
            <a:r>
              <a:rPr lang="en-US" dirty="0"/>
              <a:t>} years old.`);</a:t>
            </a:r>
          </a:p>
          <a:p>
            <a:r>
              <a:rPr lang="en-US" dirty="0"/>
              <a:t>  };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let person1 = new Person("Alice", 30);</a:t>
            </a:r>
          </a:p>
          <a:p>
            <a:r>
              <a:rPr lang="en-US" dirty="0"/>
              <a:t>let person2 = new Person("Bob", 25);</a:t>
            </a:r>
          </a:p>
          <a:p>
            <a:endParaRPr lang="en-US" dirty="0"/>
          </a:p>
          <a:p>
            <a:r>
              <a:rPr lang="en-US" dirty="0"/>
              <a:t>person1.greet(); // "Hello, my name is Alice and I'm 30 years old."</a:t>
            </a:r>
          </a:p>
          <a:p>
            <a:r>
              <a:rPr lang="en-US" dirty="0"/>
              <a:t>person2.greet(); // "Hello, my name is Bob and I'm 25 years old."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29206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CDC55-C0F0-D227-D193-9EA918669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750" y="362145"/>
            <a:ext cx="10018713" cy="756501"/>
          </a:xfrm>
        </p:spPr>
        <p:txBody>
          <a:bodyPr/>
          <a:lstStyle/>
          <a:p>
            <a:r>
              <a:rPr lang="en-IN" b="1" dirty="0"/>
              <a:t>This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14E0C-1BF8-CEAA-BB6F-AECCA71B1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73" y="1442301"/>
            <a:ext cx="5606048" cy="5053554"/>
          </a:xfrm>
        </p:spPr>
        <p:txBody>
          <a:bodyPr anchor="t">
            <a:normAutofit/>
          </a:bodyPr>
          <a:lstStyle/>
          <a:p>
            <a:pPr algn="just"/>
            <a:r>
              <a:rPr lang="en-US" dirty="0"/>
              <a:t>Refers to the current object in which it is used.</a:t>
            </a:r>
          </a:p>
          <a:p>
            <a:pPr algn="just"/>
            <a:r>
              <a:rPr lang="en-US" dirty="0"/>
              <a:t>In global context, this refers to the global object (window in browsers).</a:t>
            </a:r>
          </a:p>
          <a:p>
            <a:pPr algn="just"/>
            <a:r>
              <a:rPr lang="en-US" dirty="0"/>
              <a:t>Inside methods, this refers to the object that owns the method.</a:t>
            </a:r>
          </a:p>
          <a:p>
            <a:pPr algn="just"/>
            <a:r>
              <a:rPr lang="en-US" dirty="0"/>
              <a:t>In constructor functions, this refers to the newly created object.</a:t>
            </a:r>
          </a:p>
          <a:p>
            <a:pPr algn="just"/>
            <a:endParaRPr lang="en-US" dirty="0"/>
          </a:p>
          <a:p>
            <a:pPr algn="just"/>
            <a:endParaRPr lang="en-IN" dirty="0"/>
          </a:p>
          <a:p>
            <a:pPr algn="just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AC2CB3-44BC-6D81-4DEA-050F7EFDB651}"/>
              </a:ext>
            </a:extLst>
          </p:cNvPr>
          <p:cNvSpPr txBox="1"/>
          <p:nvPr/>
        </p:nvSpPr>
        <p:spPr>
          <a:xfrm>
            <a:off x="7277493" y="1442301"/>
            <a:ext cx="460970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function Car(brand, model) {</a:t>
            </a:r>
          </a:p>
          <a:p>
            <a:r>
              <a:rPr lang="en-IN" sz="2400" dirty="0"/>
              <a:t>  </a:t>
            </a:r>
            <a:r>
              <a:rPr lang="en-IN" sz="2400" dirty="0" err="1"/>
              <a:t>this.brand</a:t>
            </a:r>
            <a:r>
              <a:rPr lang="en-IN" sz="2400" dirty="0"/>
              <a:t> = brand;</a:t>
            </a:r>
          </a:p>
          <a:p>
            <a:r>
              <a:rPr lang="en-IN" sz="2400" dirty="0"/>
              <a:t>  </a:t>
            </a:r>
            <a:r>
              <a:rPr lang="en-IN" sz="2400" dirty="0" err="1"/>
              <a:t>this.model</a:t>
            </a:r>
            <a:r>
              <a:rPr lang="en-IN" sz="2400" dirty="0"/>
              <a:t> = model;</a:t>
            </a:r>
          </a:p>
          <a:p>
            <a:r>
              <a:rPr lang="en-IN" sz="2400" dirty="0"/>
              <a:t>  </a:t>
            </a:r>
            <a:r>
              <a:rPr lang="en-IN" sz="2400" dirty="0" err="1"/>
              <a:t>this.displayInfo</a:t>
            </a:r>
            <a:r>
              <a:rPr lang="en-IN" sz="2400" dirty="0"/>
              <a:t> = function() {</a:t>
            </a:r>
          </a:p>
          <a:p>
            <a:r>
              <a:rPr lang="en-IN" sz="2400" dirty="0"/>
              <a:t>    console.log(`Car: ${</a:t>
            </a:r>
            <a:r>
              <a:rPr lang="en-IN" sz="2400" dirty="0" err="1"/>
              <a:t>this.brand</a:t>
            </a:r>
            <a:r>
              <a:rPr lang="en-IN" sz="2400" dirty="0"/>
              <a:t>} ${</a:t>
            </a:r>
            <a:r>
              <a:rPr lang="en-IN" sz="2400" dirty="0" err="1"/>
              <a:t>this.model</a:t>
            </a:r>
            <a:r>
              <a:rPr lang="en-IN" sz="2400" dirty="0"/>
              <a:t>}`);</a:t>
            </a:r>
          </a:p>
          <a:p>
            <a:r>
              <a:rPr lang="en-IN" sz="2400" dirty="0"/>
              <a:t>  };</a:t>
            </a:r>
          </a:p>
          <a:p>
            <a:r>
              <a:rPr lang="en-IN" sz="2400" dirty="0"/>
              <a:t>}</a:t>
            </a:r>
          </a:p>
          <a:p>
            <a:endParaRPr lang="en-IN" sz="2400" dirty="0"/>
          </a:p>
          <a:p>
            <a:r>
              <a:rPr lang="en-IN" sz="2400" dirty="0"/>
              <a:t>let </a:t>
            </a:r>
            <a:r>
              <a:rPr lang="en-IN" sz="2400" dirty="0" err="1"/>
              <a:t>myCar</a:t>
            </a:r>
            <a:r>
              <a:rPr lang="en-IN" sz="2400" dirty="0"/>
              <a:t> = new Car("Toyota", "Corolla");</a:t>
            </a:r>
          </a:p>
          <a:p>
            <a:r>
              <a:rPr lang="en-IN" sz="2400" dirty="0" err="1"/>
              <a:t>myCar.displayInfo</a:t>
            </a:r>
            <a:r>
              <a:rPr lang="en-IN" sz="2400" dirty="0"/>
              <a:t>(); // "Car: Toyota Corolla"</a:t>
            </a:r>
          </a:p>
        </p:txBody>
      </p:sp>
    </p:spTree>
    <p:extLst>
      <p:ext uri="{BB962C8B-B14F-4D97-AF65-F5344CB8AC3E}">
        <p14:creationId xmlns:p14="http://schemas.microsoft.com/office/powerpoint/2010/main" val="16156797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74624-E372-40EE-3397-036B736C1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82019"/>
            <a:ext cx="10018713" cy="784781"/>
          </a:xfrm>
        </p:spPr>
        <p:txBody>
          <a:bodyPr/>
          <a:lstStyle/>
          <a:p>
            <a:r>
              <a:rPr lang="en-IN" b="1" dirty="0"/>
              <a:t>OOP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C52B3-7A08-13D6-2AE7-624F79434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8895" y="1356673"/>
            <a:ext cx="10018713" cy="4431385"/>
          </a:xfrm>
        </p:spPr>
        <p:txBody>
          <a:bodyPr>
            <a:normAutofit/>
          </a:bodyPr>
          <a:lstStyle/>
          <a:p>
            <a:pPr algn="just">
              <a:buFont typeface="+mj-lt"/>
              <a:buAutoNum type="arabicPeriod"/>
            </a:pPr>
            <a:r>
              <a:rPr lang="en-US" b="1" dirty="0"/>
              <a:t>OOP </a:t>
            </a:r>
            <a:r>
              <a:rPr lang="en-US" b="1" dirty="0" err="1"/>
              <a:t>Principles</a:t>
            </a:r>
            <a:r>
              <a:rPr lang="en-US" dirty="0" err="1"/>
              <a:t>:</a:t>
            </a:r>
            <a:r>
              <a:rPr lang="en-US" b="1" dirty="0" err="1"/>
              <a:t>Encapsulation</a:t>
            </a:r>
            <a:r>
              <a:rPr lang="en-US" dirty="0"/>
              <a:t>: Bundling data (properties) and methods that operate on the data into a single unit (object).</a:t>
            </a:r>
          </a:p>
          <a:p>
            <a:pPr algn="just">
              <a:buFont typeface="+mj-lt"/>
              <a:buAutoNum type="arabicPeriod"/>
            </a:pPr>
            <a:r>
              <a:rPr lang="en-US" b="1" dirty="0"/>
              <a:t>Inheritance</a:t>
            </a:r>
            <a:r>
              <a:rPr lang="en-US" dirty="0"/>
              <a:t>: A mechanism where one class can inherit the properties and methods from another class.</a:t>
            </a:r>
          </a:p>
          <a:p>
            <a:pPr algn="just">
              <a:buFont typeface="+mj-lt"/>
              <a:buAutoNum type="arabicPeriod"/>
            </a:pPr>
            <a:r>
              <a:rPr lang="en-US" b="1" dirty="0"/>
              <a:t>Polymorphism</a:t>
            </a:r>
            <a:r>
              <a:rPr lang="en-US" dirty="0"/>
              <a:t>: The ability of different objects to respond to the same method in their own way.</a:t>
            </a:r>
          </a:p>
          <a:p>
            <a:pPr algn="just">
              <a:buFont typeface="+mj-lt"/>
              <a:buAutoNum type="arabicPeriod"/>
            </a:pPr>
            <a:r>
              <a:rPr lang="en-US" b="1" dirty="0"/>
              <a:t>Abstraction</a:t>
            </a:r>
            <a:r>
              <a:rPr lang="en-US" dirty="0"/>
              <a:t>: Hiding the complex implementation details and showing only essential features to the user.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94974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F3729-01D2-0DC1-A9A5-881328BAC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72592"/>
            <a:ext cx="10018713" cy="794208"/>
          </a:xfrm>
        </p:spPr>
        <p:txBody>
          <a:bodyPr/>
          <a:lstStyle/>
          <a:p>
            <a:r>
              <a:rPr lang="en-IN" dirty="0"/>
              <a:t>Encapsulation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42FF822-17B0-9DDB-2741-C4BFE9127B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0" y="1490008"/>
            <a:ext cx="1010123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Encapsulation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refers to bundling data and methods that work on that data within a single unit.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is achieved by using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can use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closures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getter/setter methods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control access to object properties. </a:t>
            </a:r>
          </a:p>
        </p:txBody>
      </p:sp>
    </p:spTree>
    <p:extLst>
      <p:ext uri="{BB962C8B-B14F-4D97-AF65-F5344CB8AC3E}">
        <p14:creationId xmlns:p14="http://schemas.microsoft.com/office/powerpoint/2010/main" val="8092826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0CEBF23-9DD2-0ECE-2342-C61F7EF47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87AB6A-65EB-9062-98E6-61F7FEE9F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338" y="740371"/>
            <a:ext cx="10341204" cy="537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63184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122E6-C791-1C1B-E9D3-AA7C96618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23330"/>
          </a:xfrm>
        </p:spPr>
        <p:txBody>
          <a:bodyPr/>
          <a:lstStyle/>
          <a:p>
            <a:r>
              <a:rPr lang="en-IN" b="1" dirty="0"/>
              <a:t>Polymorphism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5A01E1E-C9B5-F3F8-C6D5-19E5EFDD24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1" y="1609131"/>
            <a:ext cx="10270915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Polymorphism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allows different classes to have methods with the same name, but with different implementations.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 of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overriding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methods in inheritance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 is interpreted programming language so decisions will be taking at run time not at compile time so method overloading is not supported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Method Overriding is possible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0944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F1A29-7D81-5EE5-4DDF-05B3C24AA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A4E8E-8767-9A27-6E0F-815928498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616FBC-BB40-B449-58BC-A66F9C2B5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496" y="535537"/>
            <a:ext cx="10737131" cy="578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233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F2A5B-A9A3-1CEA-7BB3-FCC707402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615099"/>
          </a:xfrm>
        </p:spPr>
        <p:txBody>
          <a:bodyPr>
            <a:normAutofit fontScale="90000"/>
          </a:bodyPr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B5878E-1E1B-09DB-2A04-E9EBC45A25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5084" y="801278"/>
            <a:ext cx="10955458" cy="4989922"/>
          </a:xfrm>
        </p:spPr>
      </p:pic>
    </p:spTree>
    <p:extLst>
      <p:ext uri="{BB962C8B-B14F-4D97-AF65-F5344CB8AC3E}">
        <p14:creationId xmlns:p14="http://schemas.microsoft.com/office/powerpoint/2010/main" val="35030358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ED04-5097-A7E0-F413-34E3AF560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8323" y="82486"/>
            <a:ext cx="10018713" cy="907330"/>
          </a:xfrm>
        </p:spPr>
        <p:txBody>
          <a:bodyPr/>
          <a:lstStyle/>
          <a:p>
            <a:r>
              <a:rPr lang="en-IN" b="1" dirty="0"/>
              <a:t>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B2864-3D70-D576-DFE3-48AEE0FAB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923041"/>
            <a:ext cx="10440596" cy="4582213"/>
          </a:xfrm>
        </p:spPr>
        <p:txBody>
          <a:bodyPr anchor="t"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Inheritance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allows one object (child) to inherit the properties and methods of another object (parent).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JavaScript uses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prototype-based inheritance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 programming, inheritance refers to passing down characteristics from a parent to a child so that a new piece of code can reuse and build upon the features of an existing one.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JavaScript implements inheritance by using objects.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Each object has an internal link to another object called its prototype. That prototype object has a prototype of its own, and so on until an object is reached with null as its prototype.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By definition, null has no prototype and acts as the final link in this prototype chain.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It is possible to mutate any member of the prototype chain or even swap out the prototype at runtime, so concepts like static dispatching do not exist in JavaScript.</a:t>
            </a:r>
          </a:p>
          <a:p>
            <a:pPr algn="just"/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417283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64614-1810-FDD6-E08C-88294C3CC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A368CF7-AB67-98B7-A538-3ACD1BA6AB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37519" y="249756"/>
            <a:ext cx="6916962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spc="-7" dirty="0">
                <a:solidFill>
                  <a:srgbClr val="000000"/>
                </a:solidFill>
              </a:rPr>
              <a:t>Inheritance</a:t>
            </a:r>
            <a:r>
              <a:rPr lang="en-IN" b="1" spc="-7" dirty="0">
                <a:solidFill>
                  <a:srgbClr val="000000"/>
                </a:solidFill>
              </a:rPr>
              <a:t> Types</a:t>
            </a:r>
            <a:endParaRPr b="1" spc="-7" dirty="0">
              <a:solidFill>
                <a:srgbClr val="000000"/>
              </a:solidFill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2B7446D-16B6-970E-4F0A-57C01C2FB778}"/>
              </a:ext>
            </a:extLst>
          </p:cNvPr>
          <p:cNvSpPr/>
          <p:nvPr/>
        </p:nvSpPr>
        <p:spPr>
          <a:xfrm>
            <a:off x="793665" y="5723988"/>
            <a:ext cx="2696633" cy="368300"/>
          </a:xfrm>
          <a:custGeom>
            <a:avLst/>
            <a:gdLst/>
            <a:ahLst/>
            <a:cxnLst/>
            <a:rect l="l" t="t" r="r" b="b"/>
            <a:pathLst>
              <a:path w="2022475" h="276225">
                <a:moveTo>
                  <a:pt x="2022348" y="0"/>
                </a:moveTo>
                <a:lnTo>
                  <a:pt x="0" y="0"/>
                </a:lnTo>
                <a:lnTo>
                  <a:pt x="0" y="275844"/>
                </a:lnTo>
                <a:lnTo>
                  <a:pt x="2022348" y="275844"/>
                </a:lnTo>
                <a:lnTo>
                  <a:pt x="202234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97E25F8-6560-2220-22D7-438B9EBE14A7}"/>
              </a:ext>
            </a:extLst>
          </p:cNvPr>
          <p:cNvSpPr txBox="1"/>
          <p:nvPr/>
        </p:nvSpPr>
        <p:spPr>
          <a:xfrm>
            <a:off x="887731" y="5815950"/>
            <a:ext cx="1993900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b="1" spc="-7" dirty="0">
                <a:latin typeface="Calibri"/>
                <a:cs typeface="Calibri"/>
              </a:rPr>
              <a:t>Single </a:t>
            </a:r>
            <a:r>
              <a:rPr sz="1600" b="1" spc="-13" dirty="0">
                <a:latin typeface="Calibri"/>
                <a:cs typeface="Calibri"/>
              </a:rPr>
              <a:t>level </a:t>
            </a:r>
            <a:r>
              <a:rPr sz="1600" b="1" spc="-7" dirty="0">
                <a:solidFill>
                  <a:srgbClr val="FFFFFF"/>
                </a:solidFill>
                <a:latin typeface="Calibri"/>
                <a:cs typeface="Calibri"/>
              </a:rPr>
              <a:t>Inheritance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E073C1B-5E62-4728-1EF4-884E42030508}"/>
              </a:ext>
            </a:extLst>
          </p:cNvPr>
          <p:cNvSpPr/>
          <p:nvPr/>
        </p:nvSpPr>
        <p:spPr>
          <a:xfrm>
            <a:off x="5012945" y="5970015"/>
            <a:ext cx="2584873" cy="368300"/>
          </a:xfrm>
          <a:custGeom>
            <a:avLst/>
            <a:gdLst/>
            <a:ahLst/>
            <a:cxnLst/>
            <a:rect l="l" t="t" r="r" b="b"/>
            <a:pathLst>
              <a:path w="1938654" h="276225">
                <a:moveTo>
                  <a:pt x="1938527" y="0"/>
                </a:moveTo>
                <a:lnTo>
                  <a:pt x="0" y="0"/>
                </a:lnTo>
                <a:lnTo>
                  <a:pt x="0" y="275844"/>
                </a:lnTo>
                <a:lnTo>
                  <a:pt x="1938527" y="275844"/>
                </a:lnTo>
                <a:lnTo>
                  <a:pt x="1938527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952B62C-2BE3-87D1-5D92-D7DBB5C10D4D}"/>
              </a:ext>
            </a:extLst>
          </p:cNvPr>
          <p:cNvSpPr txBox="1"/>
          <p:nvPr/>
        </p:nvSpPr>
        <p:spPr>
          <a:xfrm>
            <a:off x="5323161" y="6003070"/>
            <a:ext cx="196426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b="1" spc="-7" dirty="0">
                <a:latin typeface="Calibri"/>
                <a:cs typeface="Calibri"/>
              </a:rPr>
              <a:t>Multi-level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7" dirty="0">
                <a:solidFill>
                  <a:srgbClr val="FFFFFF"/>
                </a:solidFill>
                <a:latin typeface="Calibri"/>
                <a:cs typeface="Calibri"/>
              </a:rPr>
              <a:t>Inheritance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72D81417-A56D-E4D7-685A-A10256499889}"/>
              </a:ext>
            </a:extLst>
          </p:cNvPr>
          <p:cNvSpPr txBox="1"/>
          <p:nvPr/>
        </p:nvSpPr>
        <p:spPr>
          <a:xfrm>
            <a:off x="8784336" y="5994401"/>
            <a:ext cx="3219027" cy="297517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50800" rIns="0" bIns="0" rtlCol="0">
            <a:spAutoFit/>
          </a:bodyPr>
          <a:lstStyle/>
          <a:p>
            <a:pPr marL="607045">
              <a:spcBef>
                <a:spcPts val="400"/>
              </a:spcBef>
            </a:pPr>
            <a:r>
              <a:rPr sz="1600" b="1" spc="-13" dirty="0">
                <a:latin typeface="Calibri"/>
                <a:cs typeface="Calibri"/>
              </a:rPr>
              <a:t>Hierarchical</a:t>
            </a:r>
            <a:r>
              <a:rPr sz="1600" b="1" spc="-27" dirty="0">
                <a:latin typeface="Calibri"/>
                <a:cs typeface="Calibri"/>
              </a:rPr>
              <a:t> </a:t>
            </a:r>
            <a:r>
              <a:rPr sz="1600" b="1" spc="-7" dirty="0">
                <a:solidFill>
                  <a:srgbClr val="FFFFFF"/>
                </a:solidFill>
                <a:latin typeface="Calibri"/>
                <a:cs typeface="Calibri"/>
              </a:rPr>
              <a:t>Inheritance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660D111F-CFCF-903B-45AF-B6253961BC6B}"/>
              </a:ext>
            </a:extLst>
          </p:cNvPr>
          <p:cNvSpPr/>
          <p:nvPr/>
        </p:nvSpPr>
        <p:spPr>
          <a:xfrm>
            <a:off x="3508247" y="2291081"/>
            <a:ext cx="0" cy="3489113"/>
          </a:xfrm>
          <a:custGeom>
            <a:avLst/>
            <a:gdLst/>
            <a:ahLst/>
            <a:cxnLst/>
            <a:rect l="l" t="t" r="r" b="b"/>
            <a:pathLst>
              <a:path h="2616835">
                <a:moveTo>
                  <a:pt x="0" y="0"/>
                </a:moveTo>
                <a:lnTo>
                  <a:pt x="0" y="2616619"/>
                </a:lnTo>
              </a:path>
            </a:pathLst>
          </a:custGeom>
          <a:ln w="19050">
            <a:solidFill>
              <a:srgbClr val="FFC000"/>
            </a:solidFill>
            <a:prstDash val="sysDot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D69898A5-3E8A-AEC1-50D9-EBF8DD6E0CF9}"/>
              </a:ext>
            </a:extLst>
          </p:cNvPr>
          <p:cNvSpPr/>
          <p:nvPr/>
        </p:nvSpPr>
        <p:spPr>
          <a:xfrm>
            <a:off x="7824215" y="2272793"/>
            <a:ext cx="0" cy="3489113"/>
          </a:xfrm>
          <a:custGeom>
            <a:avLst/>
            <a:gdLst/>
            <a:ahLst/>
            <a:cxnLst/>
            <a:rect l="l" t="t" r="r" b="b"/>
            <a:pathLst>
              <a:path h="2616835">
                <a:moveTo>
                  <a:pt x="0" y="0"/>
                </a:moveTo>
                <a:lnTo>
                  <a:pt x="0" y="2616619"/>
                </a:lnTo>
              </a:path>
            </a:pathLst>
          </a:custGeom>
          <a:ln w="19050">
            <a:solidFill>
              <a:srgbClr val="FFC000"/>
            </a:solidFill>
            <a:prstDash val="sysDot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grpSp>
        <p:nvGrpSpPr>
          <p:cNvPr id="11" name="object 11">
            <a:extLst>
              <a:ext uri="{FF2B5EF4-FFF2-40B4-BE49-F238E27FC236}">
                <a16:creationId xmlns:a16="http://schemas.microsoft.com/office/drawing/2014/main" id="{1A27284B-43FF-84F5-52AA-640760B7DFEE}"/>
              </a:ext>
            </a:extLst>
          </p:cNvPr>
          <p:cNvGrpSpPr/>
          <p:nvPr/>
        </p:nvGrpSpPr>
        <p:grpSpPr>
          <a:xfrm>
            <a:off x="738124" y="3202939"/>
            <a:ext cx="2096347" cy="2148840"/>
            <a:chOff x="553593" y="2402204"/>
            <a:chExt cx="1572260" cy="1611630"/>
          </a:xfrm>
        </p:grpSpPr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E0A26F8D-22D8-D4DD-236F-01337E2B3296}"/>
                </a:ext>
              </a:extLst>
            </p:cNvPr>
            <p:cNvSpPr/>
            <p:nvPr/>
          </p:nvSpPr>
          <p:spPr>
            <a:xfrm>
              <a:off x="1338834" y="2411729"/>
              <a:ext cx="777240" cy="815340"/>
            </a:xfrm>
            <a:custGeom>
              <a:avLst/>
              <a:gdLst/>
              <a:ahLst/>
              <a:cxnLst/>
              <a:rect l="l" t="t" r="r" b="b"/>
              <a:pathLst>
                <a:path w="777239" h="815339">
                  <a:moveTo>
                    <a:pt x="0" y="723900"/>
                  </a:moveTo>
                  <a:lnTo>
                    <a:pt x="0" y="38100"/>
                  </a:lnTo>
                  <a:lnTo>
                    <a:pt x="641604" y="38100"/>
                  </a:lnTo>
                </a:path>
                <a:path w="777239" h="815339">
                  <a:moveTo>
                    <a:pt x="562355" y="0"/>
                  </a:moveTo>
                  <a:lnTo>
                    <a:pt x="641604" y="37083"/>
                  </a:lnTo>
                  <a:lnTo>
                    <a:pt x="562355" y="73151"/>
                  </a:lnTo>
                </a:path>
                <a:path w="777239" h="815339">
                  <a:moveTo>
                    <a:pt x="777240" y="38100"/>
                  </a:moveTo>
                  <a:lnTo>
                    <a:pt x="777240" y="815339"/>
                  </a:lnTo>
                  <a:lnTo>
                    <a:pt x="0" y="815339"/>
                  </a:lnTo>
                </a:path>
              </a:pathLst>
            </a:custGeom>
            <a:ln w="19050">
              <a:solidFill>
                <a:srgbClr val="00123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8256CC34-9B02-5237-7F10-ADE120FAC8F5}"/>
                </a:ext>
              </a:extLst>
            </p:cNvPr>
            <p:cNvSpPr/>
            <p:nvPr/>
          </p:nvSpPr>
          <p:spPr>
            <a:xfrm>
              <a:off x="563118" y="3188969"/>
              <a:ext cx="775970" cy="815340"/>
            </a:xfrm>
            <a:custGeom>
              <a:avLst/>
              <a:gdLst/>
              <a:ahLst/>
              <a:cxnLst/>
              <a:rect l="l" t="t" r="r" b="b"/>
              <a:pathLst>
                <a:path w="775969" h="815339">
                  <a:moveTo>
                    <a:pt x="775716" y="38100"/>
                  </a:moveTo>
                  <a:lnTo>
                    <a:pt x="775716" y="815340"/>
                  </a:lnTo>
                  <a:lnTo>
                    <a:pt x="0" y="815340"/>
                  </a:lnTo>
                  <a:lnTo>
                    <a:pt x="0" y="38100"/>
                  </a:lnTo>
                  <a:lnTo>
                    <a:pt x="640232" y="38100"/>
                  </a:lnTo>
                </a:path>
                <a:path w="775969" h="815339">
                  <a:moveTo>
                    <a:pt x="562356" y="0"/>
                  </a:moveTo>
                  <a:lnTo>
                    <a:pt x="640079" y="37846"/>
                  </a:lnTo>
                  <a:lnTo>
                    <a:pt x="562356" y="74675"/>
                  </a:lnTo>
                </a:path>
              </a:pathLst>
            </a:custGeom>
            <a:ln w="190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4" name="object 14">
            <a:extLst>
              <a:ext uri="{FF2B5EF4-FFF2-40B4-BE49-F238E27FC236}">
                <a16:creationId xmlns:a16="http://schemas.microsoft.com/office/drawing/2014/main" id="{6C41A3BE-4AB6-6257-FA5B-49E97FCCBF06}"/>
              </a:ext>
            </a:extLst>
          </p:cNvPr>
          <p:cNvSpPr txBox="1"/>
          <p:nvPr/>
        </p:nvSpPr>
        <p:spPr>
          <a:xfrm>
            <a:off x="842602" y="4690025"/>
            <a:ext cx="564727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dirty="0">
                <a:latin typeface="Calibri"/>
                <a:cs typeface="Calibri"/>
              </a:rPr>
              <a:t>Cl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B</a:t>
            </a:r>
            <a:endParaRPr sz="1467" dirty="0">
              <a:latin typeface="Calibri"/>
              <a:cs typeface="Calibri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D4EA4A9-6330-3E8A-266C-4C1D28897D7C}"/>
              </a:ext>
            </a:extLst>
          </p:cNvPr>
          <p:cNvSpPr txBox="1"/>
          <p:nvPr/>
        </p:nvSpPr>
        <p:spPr>
          <a:xfrm>
            <a:off x="1884681" y="3631692"/>
            <a:ext cx="573193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dirty="0">
                <a:latin typeface="Calibri"/>
                <a:cs typeface="Calibri"/>
              </a:rPr>
              <a:t>Cl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A</a:t>
            </a:r>
            <a:endParaRPr sz="1467">
              <a:latin typeface="Calibri"/>
              <a:cs typeface="Calibri"/>
            </a:endParaRPr>
          </a:p>
        </p:txBody>
      </p:sp>
      <p:grpSp>
        <p:nvGrpSpPr>
          <p:cNvPr id="16" name="object 16">
            <a:extLst>
              <a:ext uri="{FF2B5EF4-FFF2-40B4-BE49-F238E27FC236}">
                <a16:creationId xmlns:a16="http://schemas.microsoft.com/office/drawing/2014/main" id="{FD085EE7-D6ED-9C75-E5C9-2B15C3934E03}"/>
              </a:ext>
            </a:extLst>
          </p:cNvPr>
          <p:cNvGrpSpPr/>
          <p:nvPr/>
        </p:nvGrpSpPr>
        <p:grpSpPr>
          <a:xfrm>
            <a:off x="4109211" y="2178811"/>
            <a:ext cx="3120813" cy="3173307"/>
            <a:chOff x="3081908" y="1634108"/>
            <a:chExt cx="2340610" cy="2379980"/>
          </a:xfrm>
        </p:grpSpPr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06AFA57A-D2CA-D775-DBD2-76873EB8E7A9}"/>
                </a:ext>
              </a:extLst>
            </p:cNvPr>
            <p:cNvSpPr/>
            <p:nvPr/>
          </p:nvSpPr>
          <p:spPr>
            <a:xfrm>
              <a:off x="4638294" y="1643633"/>
              <a:ext cx="774700" cy="812800"/>
            </a:xfrm>
            <a:custGeom>
              <a:avLst/>
              <a:gdLst/>
              <a:ahLst/>
              <a:cxnLst/>
              <a:rect l="l" t="t" r="r" b="b"/>
              <a:pathLst>
                <a:path w="774700" h="812800">
                  <a:moveTo>
                    <a:pt x="0" y="720851"/>
                  </a:moveTo>
                  <a:lnTo>
                    <a:pt x="0" y="36575"/>
                  </a:lnTo>
                  <a:lnTo>
                    <a:pt x="637031" y="36575"/>
                  </a:lnTo>
                </a:path>
                <a:path w="774700" h="812800">
                  <a:moveTo>
                    <a:pt x="559307" y="0"/>
                  </a:moveTo>
                  <a:lnTo>
                    <a:pt x="637031" y="36829"/>
                  </a:lnTo>
                  <a:lnTo>
                    <a:pt x="559307" y="74675"/>
                  </a:lnTo>
                </a:path>
                <a:path w="774700" h="812800">
                  <a:moveTo>
                    <a:pt x="774191" y="36575"/>
                  </a:moveTo>
                  <a:lnTo>
                    <a:pt x="774191" y="812291"/>
                  </a:lnTo>
                  <a:lnTo>
                    <a:pt x="0" y="812291"/>
                  </a:lnTo>
                </a:path>
              </a:pathLst>
            </a:custGeom>
            <a:ln w="1905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9295D6BA-6566-E429-01D6-09A378752663}"/>
                </a:ext>
              </a:extLst>
            </p:cNvPr>
            <p:cNvSpPr/>
            <p:nvPr/>
          </p:nvSpPr>
          <p:spPr>
            <a:xfrm>
              <a:off x="3862577" y="2419350"/>
              <a:ext cx="775970" cy="810895"/>
            </a:xfrm>
            <a:custGeom>
              <a:avLst/>
              <a:gdLst/>
              <a:ahLst/>
              <a:cxnLst/>
              <a:rect l="l" t="t" r="r" b="b"/>
              <a:pathLst>
                <a:path w="775970" h="810894">
                  <a:moveTo>
                    <a:pt x="0" y="719327"/>
                  </a:moveTo>
                  <a:lnTo>
                    <a:pt x="0" y="36575"/>
                  </a:lnTo>
                  <a:lnTo>
                    <a:pt x="640080" y="36575"/>
                  </a:lnTo>
                </a:path>
                <a:path w="775970" h="810894">
                  <a:moveTo>
                    <a:pt x="560832" y="0"/>
                  </a:moveTo>
                  <a:lnTo>
                    <a:pt x="640080" y="37083"/>
                  </a:lnTo>
                  <a:lnTo>
                    <a:pt x="560832" y="73151"/>
                  </a:lnTo>
                </a:path>
                <a:path w="775970" h="810894">
                  <a:moveTo>
                    <a:pt x="775716" y="36575"/>
                  </a:moveTo>
                  <a:lnTo>
                    <a:pt x="775716" y="810768"/>
                  </a:lnTo>
                  <a:lnTo>
                    <a:pt x="0" y="810768"/>
                  </a:lnTo>
                </a:path>
              </a:pathLst>
            </a:custGeom>
            <a:ln w="1905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BB93103B-ED30-6F5B-D1AC-BAA12AE26559}"/>
                </a:ext>
              </a:extLst>
            </p:cNvPr>
            <p:cNvSpPr/>
            <p:nvPr/>
          </p:nvSpPr>
          <p:spPr>
            <a:xfrm>
              <a:off x="3091433" y="3192017"/>
              <a:ext cx="771525" cy="812800"/>
            </a:xfrm>
            <a:custGeom>
              <a:avLst/>
              <a:gdLst/>
              <a:ahLst/>
              <a:cxnLst/>
              <a:rect l="l" t="t" r="r" b="b"/>
              <a:pathLst>
                <a:path w="771525" h="812800">
                  <a:moveTo>
                    <a:pt x="771144" y="38100"/>
                  </a:moveTo>
                  <a:lnTo>
                    <a:pt x="771144" y="812291"/>
                  </a:lnTo>
                  <a:lnTo>
                    <a:pt x="0" y="812291"/>
                  </a:lnTo>
                  <a:lnTo>
                    <a:pt x="0" y="38100"/>
                  </a:lnTo>
                  <a:lnTo>
                    <a:pt x="636396" y="38100"/>
                  </a:lnTo>
                </a:path>
                <a:path w="771525" h="812800">
                  <a:moveTo>
                    <a:pt x="559307" y="0"/>
                  </a:moveTo>
                  <a:lnTo>
                    <a:pt x="637032" y="38607"/>
                  </a:lnTo>
                  <a:lnTo>
                    <a:pt x="559307" y="76200"/>
                  </a:lnTo>
                </a:path>
              </a:pathLst>
            </a:custGeom>
            <a:ln w="1905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0" name="object 20">
            <a:extLst>
              <a:ext uri="{FF2B5EF4-FFF2-40B4-BE49-F238E27FC236}">
                <a16:creationId xmlns:a16="http://schemas.microsoft.com/office/drawing/2014/main" id="{4BC09068-AB6A-2A6B-8375-7721EB0A373A}"/>
              </a:ext>
            </a:extLst>
          </p:cNvPr>
          <p:cNvSpPr txBox="1"/>
          <p:nvPr/>
        </p:nvSpPr>
        <p:spPr>
          <a:xfrm>
            <a:off x="5275579" y="3652012"/>
            <a:ext cx="564727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dirty="0">
                <a:latin typeface="Calibri"/>
                <a:cs typeface="Calibri"/>
              </a:rPr>
              <a:t>Cl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B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A1AFDAB6-B603-3659-E4C3-026D8F5A04B6}"/>
              </a:ext>
            </a:extLst>
          </p:cNvPr>
          <p:cNvSpPr txBox="1"/>
          <p:nvPr/>
        </p:nvSpPr>
        <p:spPr>
          <a:xfrm>
            <a:off x="6289209" y="2604787"/>
            <a:ext cx="574040" cy="24372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1467" b="1" spc="-7" dirty="0">
                <a:latin typeface="Calibri"/>
                <a:cs typeface="Calibri"/>
              </a:rPr>
              <a:t>C</a:t>
            </a:r>
            <a:r>
              <a:rPr sz="1467" b="1" spc="7" dirty="0">
                <a:latin typeface="Calibri"/>
                <a:cs typeface="Calibri"/>
              </a:rPr>
              <a:t>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A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6B6B3D2F-2A44-82A6-93C7-DCA5F134D74D}"/>
              </a:ext>
            </a:extLst>
          </p:cNvPr>
          <p:cNvSpPr txBox="1"/>
          <p:nvPr/>
        </p:nvSpPr>
        <p:spPr>
          <a:xfrm>
            <a:off x="4251114" y="4670889"/>
            <a:ext cx="559645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dirty="0">
                <a:latin typeface="Calibri"/>
                <a:cs typeface="Calibri"/>
              </a:rPr>
              <a:t>Cl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C</a:t>
            </a:r>
            <a:endParaRPr sz="1467">
              <a:latin typeface="Calibri"/>
              <a:cs typeface="Calibri"/>
            </a:endParaRPr>
          </a:p>
        </p:txBody>
      </p:sp>
      <p:grpSp>
        <p:nvGrpSpPr>
          <p:cNvPr id="23" name="object 23">
            <a:extLst>
              <a:ext uri="{FF2B5EF4-FFF2-40B4-BE49-F238E27FC236}">
                <a16:creationId xmlns:a16="http://schemas.microsoft.com/office/drawing/2014/main" id="{72ECC9ED-8189-6E15-BF1D-5B4E2057DDED}"/>
              </a:ext>
            </a:extLst>
          </p:cNvPr>
          <p:cNvGrpSpPr/>
          <p:nvPr/>
        </p:nvGrpSpPr>
        <p:grpSpPr>
          <a:xfrm>
            <a:off x="8614155" y="2178811"/>
            <a:ext cx="3120813" cy="3173307"/>
            <a:chOff x="6460616" y="1634108"/>
            <a:chExt cx="2340610" cy="2379980"/>
          </a:xfrm>
        </p:grpSpPr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353AE3B8-DB41-DCD0-2D88-FCDEAD23729D}"/>
                </a:ext>
              </a:extLst>
            </p:cNvPr>
            <p:cNvSpPr/>
            <p:nvPr/>
          </p:nvSpPr>
          <p:spPr>
            <a:xfrm>
              <a:off x="8017001" y="1643633"/>
              <a:ext cx="774700" cy="812800"/>
            </a:xfrm>
            <a:custGeom>
              <a:avLst/>
              <a:gdLst/>
              <a:ahLst/>
              <a:cxnLst/>
              <a:rect l="l" t="t" r="r" b="b"/>
              <a:pathLst>
                <a:path w="774700" h="812800">
                  <a:moveTo>
                    <a:pt x="0" y="720851"/>
                  </a:moveTo>
                  <a:lnTo>
                    <a:pt x="0" y="36575"/>
                  </a:lnTo>
                  <a:lnTo>
                    <a:pt x="638555" y="36575"/>
                  </a:lnTo>
                </a:path>
                <a:path w="774700" h="812800">
                  <a:moveTo>
                    <a:pt x="560831" y="0"/>
                  </a:moveTo>
                  <a:lnTo>
                    <a:pt x="638555" y="36829"/>
                  </a:lnTo>
                  <a:lnTo>
                    <a:pt x="560831" y="74675"/>
                  </a:lnTo>
                </a:path>
                <a:path w="774700" h="812800">
                  <a:moveTo>
                    <a:pt x="774192" y="36575"/>
                  </a:moveTo>
                  <a:lnTo>
                    <a:pt x="774192" y="812291"/>
                  </a:lnTo>
                  <a:lnTo>
                    <a:pt x="0" y="812291"/>
                  </a:lnTo>
                </a:path>
              </a:pathLst>
            </a:custGeom>
            <a:ln w="1905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3FE56FE7-CA1E-F0E2-4AF8-515DAAACEB12}"/>
                </a:ext>
              </a:extLst>
            </p:cNvPr>
            <p:cNvSpPr/>
            <p:nvPr/>
          </p:nvSpPr>
          <p:spPr>
            <a:xfrm>
              <a:off x="7242809" y="2419350"/>
              <a:ext cx="774700" cy="810895"/>
            </a:xfrm>
            <a:custGeom>
              <a:avLst/>
              <a:gdLst/>
              <a:ahLst/>
              <a:cxnLst/>
              <a:rect l="l" t="t" r="r" b="b"/>
              <a:pathLst>
                <a:path w="774700" h="810894">
                  <a:moveTo>
                    <a:pt x="0" y="719327"/>
                  </a:moveTo>
                  <a:lnTo>
                    <a:pt x="0" y="36575"/>
                  </a:lnTo>
                  <a:lnTo>
                    <a:pt x="640080" y="36575"/>
                  </a:lnTo>
                </a:path>
                <a:path w="774700" h="810894">
                  <a:moveTo>
                    <a:pt x="559308" y="0"/>
                  </a:moveTo>
                  <a:lnTo>
                    <a:pt x="640080" y="37083"/>
                  </a:lnTo>
                  <a:lnTo>
                    <a:pt x="559308" y="73151"/>
                  </a:lnTo>
                </a:path>
                <a:path w="774700" h="810894">
                  <a:moveTo>
                    <a:pt x="774192" y="36575"/>
                  </a:moveTo>
                  <a:lnTo>
                    <a:pt x="774192" y="810768"/>
                  </a:lnTo>
                  <a:lnTo>
                    <a:pt x="0" y="810768"/>
                  </a:lnTo>
                </a:path>
              </a:pathLst>
            </a:custGeom>
            <a:ln w="1905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9797D461-1861-3949-24C7-24901C771EDC}"/>
                </a:ext>
              </a:extLst>
            </p:cNvPr>
            <p:cNvSpPr/>
            <p:nvPr/>
          </p:nvSpPr>
          <p:spPr>
            <a:xfrm>
              <a:off x="6470141" y="3192017"/>
              <a:ext cx="772795" cy="812800"/>
            </a:xfrm>
            <a:custGeom>
              <a:avLst/>
              <a:gdLst/>
              <a:ahLst/>
              <a:cxnLst/>
              <a:rect l="l" t="t" r="r" b="b"/>
              <a:pathLst>
                <a:path w="772795" h="812800">
                  <a:moveTo>
                    <a:pt x="772667" y="38100"/>
                  </a:moveTo>
                  <a:lnTo>
                    <a:pt x="772667" y="812291"/>
                  </a:lnTo>
                  <a:lnTo>
                    <a:pt x="0" y="812291"/>
                  </a:lnTo>
                  <a:lnTo>
                    <a:pt x="0" y="38100"/>
                  </a:lnTo>
                  <a:lnTo>
                    <a:pt x="637666" y="38100"/>
                  </a:lnTo>
                </a:path>
                <a:path w="772795" h="812800">
                  <a:moveTo>
                    <a:pt x="560832" y="0"/>
                  </a:moveTo>
                  <a:lnTo>
                    <a:pt x="638556" y="38607"/>
                  </a:lnTo>
                  <a:lnTo>
                    <a:pt x="560832" y="76200"/>
                  </a:lnTo>
                </a:path>
              </a:pathLst>
            </a:custGeom>
            <a:ln w="1905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7" name="object 27">
            <a:extLst>
              <a:ext uri="{FF2B5EF4-FFF2-40B4-BE49-F238E27FC236}">
                <a16:creationId xmlns:a16="http://schemas.microsoft.com/office/drawing/2014/main" id="{AEA0A23C-4B3B-B346-5D17-DFBBD2311489}"/>
              </a:ext>
            </a:extLst>
          </p:cNvPr>
          <p:cNvSpPr txBox="1"/>
          <p:nvPr/>
        </p:nvSpPr>
        <p:spPr>
          <a:xfrm>
            <a:off x="9744794" y="3655331"/>
            <a:ext cx="559645" cy="24372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1467" b="1" spc="-7" dirty="0">
                <a:latin typeface="Calibri"/>
                <a:cs typeface="Calibri"/>
              </a:rPr>
              <a:t>C</a:t>
            </a:r>
            <a:r>
              <a:rPr sz="1467" b="1" spc="7" dirty="0">
                <a:latin typeface="Calibri"/>
                <a:cs typeface="Calibri"/>
              </a:rPr>
              <a:t>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C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3D2B5184-708A-7294-D60C-978C70584744}"/>
              </a:ext>
            </a:extLst>
          </p:cNvPr>
          <p:cNvSpPr txBox="1"/>
          <p:nvPr/>
        </p:nvSpPr>
        <p:spPr>
          <a:xfrm>
            <a:off x="8731674" y="4670889"/>
            <a:ext cx="564727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dirty="0">
                <a:latin typeface="Calibri"/>
                <a:cs typeface="Calibri"/>
              </a:rPr>
              <a:t>Cl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B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DBC935B0-3FF4-B95E-4520-560640E9A544}"/>
              </a:ext>
            </a:extLst>
          </p:cNvPr>
          <p:cNvSpPr txBox="1"/>
          <p:nvPr/>
        </p:nvSpPr>
        <p:spPr>
          <a:xfrm>
            <a:off x="10795340" y="2604787"/>
            <a:ext cx="578273" cy="24372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1467" b="1" spc="-7" dirty="0">
                <a:latin typeface="Calibri"/>
                <a:cs typeface="Calibri"/>
              </a:rPr>
              <a:t>C</a:t>
            </a:r>
            <a:r>
              <a:rPr sz="1467" b="1" spc="7" dirty="0">
                <a:latin typeface="Calibri"/>
                <a:cs typeface="Calibri"/>
              </a:rPr>
              <a:t>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D</a:t>
            </a:r>
            <a:endParaRPr sz="1467">
              <a:latin typeface="Calibri"/>
              <a:cs typeface="Calibri"/>
            </a:endParaRPr>
          </a:p>
        </p:txBody>
      </p:sp>
      <p:grpSp>
        <p:nvGrpSpPr>
          <p:cNvPr id="30" name="object 30">
            <a:extLst>
              <a:ext uri="{FF2B5EF4-FFF2-40B4-BE49-F238E27FC236}">
                <a16:creationId xmlns:a16="http://schemas.microsoft.com/office/drawing/2014/main" id="{E20CB98D-87DD-6396-B37F-BA690DD18223}"/>
              </a:ext>
            </a:extLst>
          </p:cNvPr>
          <p:cNvGrpSpPr/>
          <p:nvPr/>
        </p:nvGrpSpPr>
        <p:grpSpPr>
          <a:xfrm>
            <a:off x="8587740" y="1898396"/>
            <a:ext cx="2076873" cy="2341880"/>
            <a:chOff x="6440804" y="1423797"/>
            <a:chExt cx="1557655" cy="1756410"/>
          </a:xfrm>
        </p:grpSpPr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37421BCA-F874-7E85-3A03-9018DD99EBE1}"/>
                </a:ext>
              </a:extLst>
            </p:cNvPr>
            <p:cNvSpPr/>
            <p:nvPr/>
          </p:nvSpPr>
          <p:spPr>
            <a:xfrm>
              <a:off x="6753605" y="2006345"/>
              <a:ext cx="1235075" cy="1174115"/>
            </a:xfrm>
            <a:custGeom>
              <a:avLst/>
              <a:gdLst/>
              <a:ahLst/>
              <a:cxnLst/>
              <a:rect l="l" t="t" r="r" b="b"/>
              <a:pathLst>
                <a:path w="1235075" h="1174114">
                  <a:moveTo>
                    <a:pt x="0" y="1173607"/>
                  </a:moveTo>
                  <a:lnTo>
                    <a:pt x="0" y="259080"/>
                  </a:lnTo>
                </a:path>
                <a:path w="1235075" h="1174114">
                  <a:moveTo>
                    <a:pt x="489966" y="450088"/>
                  </a:moveTo>
                  <a:lnTo>
                    <a:pt x="355092" y="259080"/>
                  </a:lnTo>
                </a:path>
                <a:path w="1235075" h="1174114">
                  <a:moveTo>
                    <a:pt x="1234821" y="16891"/>
                  </a:moveTo>
                  <a:lnTo>
                    <a:pt x="489203" y="0"/>
                  </a:lnTo>
                </a:path>
              </a:pathLst>
            </a:custGeom>
            <a:ln w="19050">
              <a:solidFill>
                <a:srgbClr val="497DBA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8D40D4B3-5327-97C7-0ECC-B3FC04782F36}"/>
                </a:ext>
              </a:extLst>
            </p:cNvPr>
            <p:cNvSpPr/>
            <p:nvPr/>
          </p:nvSpPr>
          <p:spPr>
            <a:xfrm>
              <a:off x="6450329" y="1433322"/>
              <a:ext cx="774700" cy="812800"/>
            </a:xfrm>
            <a:custGeom>
              <a:avLst/>
              <a:gdLst/>
              <a:ahLst/>
              <a:cxnLst/>
              <a:rect l="l" t="t" r="r" b="b"/>
              <a:pathLst>
                <a:path w="774700" h="812800">
                  <a:moveTo>
                    <a:pt x="0" y="720851"/>
                  </a:moveTo>
                  <a:lnTo>
                    <a:pt x="0" y="36575"/>
                  </a:lnTo>
                  <a:lnTo>
                    <a:pt x="637031" y="36575"/>
                  </a:lnTo>
                </a:path>
                <a:path w="774700" h="812800">
                  <a:moveTo>
                    <a:pt x="560831" y="0"/>
                  </a:moveTo>
                  <a:lnTo>
                    <a:pt x="637031" y="36829"/>
                  </a:lnTo>
                  <a:lnTo>
                    <a:pt x="560831" y="74675"/>
                  </a:lnTo>
                </a:path>
                <a:path w="774700" h="812800">
                  <a:moveTo>
                    <a:pt x="774192" y="36575"/>
                  </a:moveTo>
                  <a:lnTo>
                    <a:pt x="774192" y="812291"/>
                  </a:lnTo>
                  <a:lnTo>
                    <a:pt x="0" y="812291"/>
                  </a:lnTo>
                </a:path>
              </a:pathLst>
            </a:custGeom>
            <a:ln w="1905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3" name="object 33">
            <a:extLst>
              <a:ext uri="{FF2B5EF4-FFF2-40B4-BE49-F238E27FC236}">
                <a16:creationId xmlns:a16="http://schemas.microsoft.com/office/drawing/2014/main" id="{F4B68E6D-7804-7A98-066A-5C3061B98C4A}"/>
              </a:ext>
            </a:extLst>
          </p:cNvPr>
          <p:cNvSpPr txBox="1"/>
          <p:nvPr/>
        </p:nvSpPr>
        <p:spPr>
          <a:xfrm>
            <a:off x="8710845" y="2303610"/>
            <a:ext cx="573193" cy="24372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1467" b="1" dirty="0">
                <a:latin typeface="Calibri"/>
                <a:cs typeface="Calibri"/>
              </a:rPr>
              <a:t>Cl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A</a:t>
            </a:r>
            <a:endParaRPr sz="1467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138075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AA464-6190-DA01-CEAD-E1A254776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60865-5B51-6E7B-4084-0A383849B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2C6401-C3E3-0A94-44EE-58FDD6F95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802" y="599338"/>
            <a:ext cx="10803118" cy="565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95679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8E415-F2D0-CC74-EDB9-DC045BD6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Prototypes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32BBD4-ED5E-B05A-E684-6336F32DF36E}"/>
              </a:ext>
            </a:extLst>
          </p:cNvPr>
          <p:cNvSpPr txBox="1"/>
          <p:nvPr/>
        </p:nvSpPr>
        <p:spPr>
          <a:xfrm>
            <a:off x="1484310" y="2417421"/>
            <a:ext cx="1001871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Every JavaScript object has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prototype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It is a reference to another object.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Prototypes allow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inheritance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are a key part of object-oriented programming in JavaScript.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Prototype is an object that is associated with every function and object by default in </a:t>
            </a:r>
            <a:r>
              <a:rPr lang="en-US" altLang="en-US" sz="2400" dirty="0" err="1">
                <a:latin typeface="Arial" panose="020B0604020202020204" pitchFamily="34" charset="0"/>
              </a:rPr>
              <a:t>javascript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Prototype is used to add new properties and methods to every function or object which is shared across all the instances.</a:t>
            </a:r>
          </a:p>
        </p:txBody>
      </p:sp>
    </p:spTree>
    <p:extLst>
      <p:ext uri="{BB962C8B-B14F-4D97-AF65-F5344CB8AC3E}">
        <p14:creationId xmlns:p14="http://schemas.microsoft.com/office/powerpoint/2010/main" val="135641139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29E0C-E490-8148-40B3-B5838CFC1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8967E-59CF-A9CF-28B4-40CE99962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A782F0-1909-1A81-4374-2AE76F8E2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472" y="973619"/>
            <a:ext cx="10211551" cy="4910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7680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95B64-185A-4B06-FD44-DEC450CB1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E5DE0-1747-EAE7-575C-03A6C9299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F09233-6BDD-E485-92E3-286915534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790" y="763572"/>
            <a:ext cx="10595728" cy="4713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83896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B6585-CFBE-E5D3-BFB9-8AFE79879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61594"/>
            <a:ext cx="10018713" cy="926184"/>
          </a:xfrm>
        </p:spPr>
        <p:txBody>
          <a:bodyPr/>
          <a:lstStyle/>
          <a:p>
            <a:r>
              <a:rPr lang="en-IN" b="1" dirty="0"/>
              <a:t>Converting JSON to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B814A-8E97-CE5E-4F6E-4CE518BF5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A common use of JSON is to exchange data to/from a web server.</a:t>
            </a:r>
          </a:p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When receiving data from a web server, the data is always a string.</a:t>
            </a:r>
          </a:p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Parse the data with </a:t>
            </a:r>
            <a:r>
              <a:rPr lang="en-US" sz="2200" b="0" i="0" dirty="0" err="1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JSON.parse</a:t>
            </a:r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(), and the data becomes a JavaScript object.</a:t>
            </a:r>
          </a:p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The </a:t>
            </a:r>
            <a:r>
              <a:rPr lang="en-US" sz="2200" b="0" i="0" dirty="0" err="1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JSON.parse</a:t>
            </a:r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() static method parses a JSON string, constructing the JavaScript value or object described by the string. </a:t>
            </a:r>
          </a:p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const </a:t>
            </a:r>
            <a:r>
              <a:rPr lang="en-US" sz="2200" b="0" i="0" dirty="0" err="1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json</a:t>
            </a:r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 = '{"</a:t>
            </a:r>
            <a:r>
              <a:rPr lang="en-US" sz="2200" b="0" i="0" dirty="0" err="1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result":true</a:t>
            </a:r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, "count":42}';</a:t>
            </a:r>
          </a:p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const obj = </a:t>
            </a:r>
            <a:r>
              <a:rPr lang="en-US" sz="2200" b="0" i="0" dirty="0" err="1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JSON.parse</a:t>
            </a:r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(</a:t>
            </a:r>
            <a:r>
              <a:rPr lang="en-US" sz="2200" b="0" i="0" dirty="0" err="1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json</a:t>
            </a:r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);</a:t>
            </a:r>
          </a:p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console.log(</a:t>
            </a:r>
            <a:r>
              <a:rPr lang="en-US" sz="2200" b="0" i="0" dirty="0" err="1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obj.count</a:t>
            </a:r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);</a:t>
            </a:r>
          </a:p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// Expected output: 42</a:t>
            </a:r>
          </a:p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console.log(</a:t>
            </a:r>
            <a:r>
              <a:rPr lang="en-US" sz="2200" b="0" i="0" dirty="0" err="1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obj.result</a:t>
            </a:r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);</a:t>
            </a:r>
          </a:p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// Expected output: true</a:t>
            </a:r>
            <a:endParaRPr lang="en-IN" sz="2200" b="0" i="0" dirty="0">
              <a:effectLst/>
              <a:latin typeface="Arial" panose="020B0604020202020204" pitchFamily="34" charset="0"/>
              <a:ea typeface="Roboto Medium" panose="02000000000000000000" pitchFamily="2" charset="0"/>
              <a:cs typeface="Arial" panose="020B0604020202020204" pitchFamily="34" charset="0"/>
            </a:endParaRPr>
          </a:p>
          <a:p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6531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Override1.xml><?xml version="1.0" encoding="utf-8"?>
<a:themeOverride xmlns:a="http://schemas.openxmlformats.org/drawingml/2006/main">
  <a:clrScheme name="Parallax">
    <a:dk1>
      <a:sysClr val="windowText" lastClr="000000"/>
    </a:dk1>
    <a:lt1>
      <a:sysClr val="window" lastClr="FFFFFF"/>
    </a:lt1>
    <a:dk2>
      <a:srgbClr val="212121"/>
    </a:dk2>
    <a:lt2>
      <a:srgbClr val="CDD0D1"/>
    </a:lt2>
    <a:accent1>
      <a:srgbClr val="30ACEC"/>
    </a:accent1>
    <a:accent2>
      <a:srgbClr val="80C34F"/>
    </a:accent2>
    <a:accent3>
      <a:srgbClr val="E29D3E"/>
    </a:accent3>
    <a:accent4>
      <a:srgbClr val="D64A3B"/>
    </a:accent4>
    <a:accent5>
      <a:srgbClr val="D64787"/>
    </a:accent5>
    <a:accent6>
      <a:srgbClr val="A666E1"/>
    </a:accent6>
    <a:hlink>
      <a:srgbClr val="3085ED"/>
    </a:hlink>
    <a:folHlink>
      <a:srgbClr val="82B6F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908</TotalTime>
  <Words>3869</Words>
  <Application>Microsoft Office PowerPoint</Application>
  <PresentationFormat>Widescreen</PresentationFormat>
  <Paragraphs>420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3" baseType="lpstr">
      <vt:lpstr>Arial</vt:lpstr>
      <vt:lpstr>Arial Unicode MS</vt:lpstr>
      <vt:lpstr>Calibri</vt:lpstr>
      <vt:lpstr>Corbel</vt:lpstr>
      <vt:lpstr>Roboto Medium</vt:lpstr>
      <vt:lpstr>Parallax</vt:lpstr>
      <vt:lpstr>JavaScript Basics</vt:lpstr>
      <vt:lpstr>What is Javascript?</vt:lpstr>
      <vt:lpstr>What is an Interpreter - Based Language ? </vt:lpstr>
      <vt:lpstr>History (ECMA was formerly an acronym for the European Computer Manufacturers Association) </vt:lpstr>
      <vt:lpstr>Features</vt:lpstr>
      <vt:lpstr> Envir0nment Set Up</vt:lpstr>
      <vt:lpstr>Data Types</vt:lpstr>
      <vt:lpstr>JavaScript String</vt:lpstr>
      <vt:lpstr>Examples</vt:lpstr>
      <vt:lpstr>typeof Operator</vt:lpstr>
      <vt:lpstr>Working with Variables</vt:lpstr>
      <vt:lpstr>Variables</vt:lpstr>
      <vt:lpstr>Understand Scope</vt:lpstr>
      <vt:lpstr>Redeclaration for let and var</vt:lpstr>
      <vt:lpstr>Scope for var and let</vt:lpstr>
      <vt:lpstr>Working with constants</vt:lpstr>
      <vt:lpstr>Hoisting in JavaScript </vt:lpstr>
      <vt:lpstr>Hoisting in JavaScript </vt:lpstr>
      <vt:lpstr>Operators</vt:lpstr>
      <vt:lpstr>Loose Equality == Vs Strict Equality===</vt:lpstr>
      <vt:lpstr>Guess Output?</vt:lpstr>
      <vt:lpstr>Type Casting</vt:lpstr>
      <vt:lpstr>String conversion</vt:lpstr>
      <vt:lpstr>Number Conversion</vt:lpstr>
      <vt:lpstr>Truthy vs Falsy </vt:lpstr>
      <vt:lpstr>Boolean Conversion</vt:lpstr>
      <vt:lpstr>Conditional Statements</vt:lpstr>
      <vt:lpstr>Loop</vt:lpstr>
      <vt:lpstr>For..of and for..in</vt:lpstr>
      <vt:lpstr>For-of</vt:lpstr>
      <vt:lpstr>For in</vt:lpstr>
      <vt:lpstr>Array</vt:lpstr>
      <vt:lpstr>Array Methods</vt:lpstr>
      <vt:lpstr>Array Methods</vt:lpstr>
      <vt:lpstr>Multi-Dimensional Array</vt:lpstr>
      <vt:lpstr>String</vt:lpstr>
      <vt:lpstr>String Methods</vt:lpstr>
      <vt:lpstr>Functions</vt:lpstr>
      <vt:lpstr>PowerPoint Presentation</vt:lpstr>
      <vt:lpstr>PowerPoint Presentation</vt:lpstr>
      <vt:lpstr>Object</vt:lpstr>
      <vt:lpstr>Constructor Functions</vt:lpstr>
      <vt:lpstr>PowerPoint Presentation</vt:lpstr>
      <vt:lpstr>This Keyword</vt:lpstr>
      <vt:lpstr>OOP Principles</vt:lpstr>
      <vt:lpstr>Encapsulation</vt:lpstr>
      <vt:lpstr>PowerPoint Presentation</vt:lpstr>
      <vt:lpstr>Polymorphism</vt:lpstr>
      <vt:lpstr>PowerPoint Presentation</vt:lpstr>
      <vt:lpstr>PowerPoint Presentation</vt:lpstr>
      <vt:lpstr>Inheritance</vt:lpstr>
      <vt:lpstr>Inheritance Types</vt:lpstr>
      <vt:lpstr>PowerPoint Presentation</vt:lpstr>
      <vt:lpstr>Prototypes</vt:lpstr>
      <vt:lpstr>PowerPoint Presentation</vt:lpstr>
      <vt:lpstr>PowerPoint Presentation</vt:lpstr>
      <vt:lpstr>Converting JSON to JavaScript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istqb.trainer@devlabsalliance.com</dc:creator>
  <cp:lastModifiedBy>istqb.trainer@devlabsalliance.com</cp:lastModifiedBy>
  <cp:revision>197</cp:revision>
  <dcterms:created xsi:type="dcterms:W3CDTF">2025-01-22T15:56:26Z</dcterms:created>
  <dcterms:modified xsi:type="dcterms:W3CDTF">2025-02-20T10:32:48Z</dcterms:modified>
</cp:coreProperties>
</file>